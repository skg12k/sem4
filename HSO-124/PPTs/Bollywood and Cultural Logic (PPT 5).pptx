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6" r:id="rId10"/>
  </p:sldIdLst>
  <p:sldSz cx="12192000" cy="6858000"/>
  <p:notesSz cx="6858000" cy="9144000"/>
  <p:embeddedFontLst>
    <p:embeddedFont>
      <p:font typeface="Inter" panose="02000503000000020004" pitchFamily="2" charset="0"/>
      <p:regular r:id="rId12"/>
      <p:bold r:id="rId13"/>
      <p:italic r:id="rId14"/>
      <p:boldItalic r:id="rId15"/>
    </p:embeddedFont>
    <p:embeddedFont>
      <p:font typeface="Inter SemiBold" panose="02000503000000020004" pitchFamily="2" charset="0"/>
      <p:regular r:id="rId16"/>
      <p:bold r:id="rId17"/>
      <p:italic r:id="rId18"/>
      <p:boldItalic r:id="rId19"/>
    </p:embeddedFont>
    <p:embeddedFont>
      <p:font typeface="Outfit" pitchFamily="2" charset="0"/>
      <p:regular r:id="rId20"/>
      <p:bold r:id="rId21"/>
    </p:embeddedFont>
    <p:embeddedFont>
      <p:font typeface="Outfit SemiBold" pitchFamily="2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649"/>
  </p:normalViewPr>
  <p:slideViewPr>
    <p:cSldViewPr snapToGrid="0">
      <p:cViewPr varScale="1">
        <p:scale>
          <a:sx n="87" d="100"/>
          <a:sy n="87" d="100"/>
        </p:scale>
        <p:origin x="80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590948"/>
            <a:ext cx="9001125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D4AF37"/>
                </a:solidFill>
                <a:latin typeface="Outfit"/>
                <a:ea typeface="Outfit"/>
                <a:cs typeface="Outfit"/>
                <a:sym typeface="Outfit"/>
              </a:rPr>
              <a:t>Celluloid Hegemony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809750" y="3535709"/>
            <a:ext cx="8572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How </a:t>
            </a:r>
            <a:r>
              <a:rPr lang="en-US" sz="1800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film</a:t>
            </a:r>
            <a:r>
              <a:rPr lang="en-US" sz="18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shapes</a:t>
            </a:r>
            <a:r>
              <a:rPr lang="en-US" sz="18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societal ideologies, norms, and </a:t>
            </a:r>
            <a:r>
              <a:rPr lang="en-US" sz="1800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our</a:t>
            </a:r>
            <a:r>
              <a:rPr lang="en-US" sz="18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'common sense'.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645318" y="2277516"/>
            <a:ext cx="1090136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D4AF37"/>
                </a:solidFill>
                <a:latin typeface="Outfit"/>
                <a:ea typeface="Outfit"/>
                <a:cs typeface="Outfit"/>
                <a:sym typeface="Outfit"/>
              </a:rPr>
              <a:t>What is</a:t>
            </a:r>
            <a:r>
              <a:rPr lang="en-US" sz="4800" b="1" i="0" u="none" strike="noStrike" cap="none" dirty="0">
                <a:solidFill>
                  <a:srgbClr val="D4AF37"/>
                </a:solidFill>
                <a:latin typeface="Outfit"/>
                <a:ea typeface="Outfit"/>
                <a:cs typeface="Outfit"/>
                <a:sym typeface="Outfit"/>
              </a:rPr>
              <a:t> "Common Sense"</a:t>
            </a:r>
            <a:endParaRPr dirty="0"/>
          </a:p>
        </p:txBody>
      </p:sp>
      <p:sp>
        <p:nvSpPr>
          <p:cNvPr id="91" name="Google Shape;91;p14"/>
          <p:cNvSpPr/>
          <p:nvPr/>
        </p:nvSpPr>
        <p:spPr>
          <a:xfrm>
            <a:off x="5524500" y="3525291"/>
            <a:ext cx="114300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809750" y="3849141"/>
            <a:ext cx="857250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Dominant ideologies come to be seen as normal, natural and unquestionable, e.g. serfdom in Russia, slavery in the US, vegetarianism in India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Films do not merely reflect reality – they actively construct the boundaries of what a society deems normal, desirable, and logical, e.g. the changing idea of the nation in Hindi cinema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857250" y="1290637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Cultural Hegemony: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Films normalize dominant ideologies so effectively that they become an unquestioned, invisible 'common sense' to the masses.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857250" y="2928788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Repetitive Tropes: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Recurrent cinematic narratives around family structure, gender roles, and nation subtly dictate moral and ethical boundaries in daily life.</a:t>
            </a:r>
            <a:endParaRPr dirty="0"/>
          </a:p>
        </p:txBody>
      </p:sp>
      <p:sp>
        <p:nvSpPr>
          <p:cNvPr id="109" name="Google Shape;109;p16"/>
          <p:cNvSpPr txBox="1"/>
          <p:nvPr/>
        </p:nvSpPr>
        <p:spPr>
          <a:xfrm>
            <a:off x="857250" y="41862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Emotional Resonance: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Ideology is rarely absorbed through pure logic; it is embedded through deeply felt emotional experiences tied to melodrama.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857250" y="53292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Consent over Coercion: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The medium wins cultural consent by making the dominant ideology feel natural, inevitable, and emotionally fulfilling.</a:t>
            </a:r>
            <a:endParaRPr/>
          </a:p>
        </p:txBody>
      </p:sp>
      <p:pic>
        <p:nvPicPr>
          <p:cNvPr id="111" name="Google Shape;11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1275" y="19859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71500" y="132873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 flipH="1" flipV="1">
            <a:off x="666748" y="3072002"/>
            <a:ext cx="45719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571500" y="422433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536733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385762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D4AF37"/>
                </a:solidFill>
                <a:latin typeface="Outfit"/>
                <a:sym typeface="Outfit"/>
              </a:rPr>
              <a:t>How films function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33575"/>
            <a:ext cx="3429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933575"/>
            <a:ext cx="3429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1933575"/>
            <a:ext cx="34290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1245870" y="3133725"/>
            <a:ext cx="208026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Star System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866775" y="360997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Actors ascend to demigod status. Their meticulously crafted on-screen personas dictate off-screen moral aspirations, lifestyle choices, and societal ideals of success.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4810839" y="3133725"/>
            <a:ext cx="257032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Melodramatic Mode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4676775" y="360997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Heightened emotional stakes bypass critical faculties. Ideological values are embedded through tears, triumph, and intense emotional catharsis rather than debate.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8675846" y="3133725"/>
            <a:ext cx="246030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Musical Integration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486775" y="360997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Songs function as powerful mnemonic devices. By associating ideology with catchy melodies, the message repeats endlessly in daily life, outside the theater.</a:t>
            </a:r>
            <a:endParaRPr/>
          </a:p>
        </p:txBody>
      </p:sp>
      <p:pic>
        <p:nvPicPr>
          <p:cNvPr id="130" name="Google Shape;13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19300" y="236220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95962" y="236220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67875" y="23622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D4AF37"/>
                </a:solidFill>
                <a:latin typeface="Outfit"/>
                <a:ea typeface="Outfit"/>
                <a:cs typeface="Outfit"/>
                <a:sym typeface="Outfit"/>
              </a:rPr>
              <a:t>Three Pillars of Hindi cinema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571500" y="4052887"/>
            <a:ext cx="11049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507968" y="4405312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4AF3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1950s: Socialist Ideal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571500" y="4814887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Focus on nation-building, rural struggles, and the moral purity of the working class against corruption.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3343888" y="2100262"/>
            <a:ext cx="266830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4AF3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1970s: Angry Young Man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3407419" y="2824162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Reflecting urban decay and institutional failure; a shift toward anti-establishment vigilantism and individual justice.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6179808" y="4405312"/>
            <a:ext cx="266830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4AF3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1990s: Globalizing Indian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6243339" y="5129212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The rise of the affluent NRI, marrying Western consumerism with strict adherence to 'traditional' family values.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9015728" y="2100262"/>
            <a:ext cx="266830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4AF3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2010s+: Nationalist Era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079259" y="2824162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 pivot toward hyper-patriotism, historical revisionism, and narratives centered on national security and military triumph.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1727820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563740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7399659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10235579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D4AF37"/>
                </a:solidFill>
                <a:latin typeface="Outfit"/>
                <a:ea typeface="Outfit"/>
                <a:cs typeface="Outfit"/>
                <a:sym typeface="Outfit"/>
              </a:rPr>
              <a:t>Decades of Shifting Paradigms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571500" y="571500"/>
            <a:ext cx="5500687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D4AF37"/>
                </a:solidFill>
                <a:latin typeface="Outfit"/>
                <a:ea typeface="Outfit"/>
                <a:cs typeface="Outfit"/>
                <a:sym typeface="Outfit"/>
              </a:rPr>
              <a:t>Forging a National Consciousness</a:t>
            </a:r>
            <a:endParaRPr/>
          </a:p>
        </p:txBody>
      </p:sp>
      <p:pic>
        <p:nvPicPr>
          <p:cNvPr id="140" name="Google Shape;14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2349400"/>
            <a:ext cx="523875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Post-independence </a:t>
            </a:r>
            <a:r>
              <a:rPr lang="en-US" sz="1650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Hindi cinema</a:t>
            </a:r>
            <a:r>
              <a:rPr lang="en-US" sz="165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played a crucial role in binding a </a:t>
            </a:r>
            <a:r>
              <a:rPr lang="en-US" sz="1650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wound</a:t>
            </a:r>
            <a:r>
              <a:rPr lang="en-US" sz="165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ed </a:t>
            </a:r>
            <a:r>
              <a:rPr lang="en-US" sz="1650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nation</a:t>
            </a:r>
            <a:r>
              <a:rPr lang="en-US" sz="165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. By projecting a unified, aspirational 'Indianness' onto the silver screen, cinema created a shared vernacular of identity.</a:t>
            </a:r>
            <a:endParaRPr dirty="0"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4380725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This constructed identity—often Hindi-speaking, morally upright, and culturally rooted—transcended state borders, linguistic divides, and class barriers, forging a cohesive national imagination.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38337"/>
            <a:ext cx="523875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38337"/>
            <a:ext cx="523875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1057275" y="2424112"/>
            <a:ext cx="448056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Patriarchal Paradigm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1057275" y="2900362"/>
            <a:ext cx="4267200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Hindi cinema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has historically enforced rigid gender binaries. The 'ideal' woman is frequently depicted as self-sacrificing, domestic, and morally pure, bearing the burden of cultural tradition. Conversely, the male hero is the active agent of change, defining the culture's standard for masculinity, aggression, and protection.</a:t>
            </a:r>
            <a:endParaRPr dirty="0"/>
          </a:p>
        </p:txBody>
      </p:sp>
      <p:sp>
        <p:nvSpPr>
          <p:cNvPr id="169" name="Google Shape;169;p20"/>
          <p:cNvSpPr txBox="1"/>
          <p:nvPr/>
        </p:nvSpPr>
        <p:spPr>
          <a:xfrm>
            <a:off x="6867525" y="2424112"/>
            <a:ext cx="448056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Sanctified 'Parivaar'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867525" y="2900362"/>
            <a:ext cx="42672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The traditional joint family is elevated to a sacred, untouchable institution. Individual desires—especially romantic or career-oriented ones—are consistently subordinated to familial duty. The cinematic narrative frames rebellion against the family as a moral failing, establishing obedience as the highest societal virtue.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D4AF37"/>
                </a:solidFill>
                <a:latin typeface="Outfit"/>
                <a:ea typeface="Outfit"/>
                <a:cs typeface="Outfit"/>
                <a:sym typeface="Outfit"/>
              </a:rPr>
              <a:t>Constructing the Social Unit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/>
        </p:nvSpPr>
        <p:spPr>
          <a:xfrm>
            <a:off x="571500" y="2645122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D4AF37"/>
                </a:solidFill>
                <a:latin typeface="Outfit"/>
                <a:ea typeface="Outfit"/>
                <a:cs typeface="Outfit"/>
                <a:sym typeface="Outfit"/>
              </a:rPr>
              <a:t>1.5B+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571500" y="4264372"/>
            <a:ext cx="52387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Monthly Movie Admissions (Pre-Pandemic Peak)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381750" y="2728912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An Unparalleled Pedagogical Tool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6381750" y="3205162"/>
            <a:ext cx="523875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The sheer volume of consumption makes </a:t>
            </a:r>
            <a:r>
              <a:rPr lang="en-US" sz="1500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Hindi cinema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 one of the most powerful ideological apparatuses in the world. Its narratives reach demographics entirely untouched by formal education, literature, or targeted political campaigns, creating a uniform cultural baseline across a vast, heterogeneous population.</a:t>
            </a:r>
            <a:endParaRPr dirty="0"/>
          </a:p>
        </p:txBody>
      </p:sp>
      <p:sp>
        <p:nvSpPr>
          <p:cNvPr id="180" name="Google Shape;180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D4AF37"/>
                </a:solidFill>
                <a:latin typeface="Outfit"/>
                <a:ea typeface="Outfit"/>
                <a:cs typeface="Outfit"/>
                <a:sym typeface="Outfit"/>
              </a:rPr>
              <a:t>The Scale of Influence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595586"/>
            <a:ext cx="8572500" cy="366667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2405538" y="2081361"/>
            <a:ext cx="738092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D4AF37"/>
                </a:solidFill>
                <a:latin typeface="Outfit"/>
                <a:sym typeface="Outfit"/>
              </a:rPr>
              <a:t>Future trajectory?</a:t>
            </a:r>
            <a:endParaRPr dirty="0"/>
          </a:p>
        </p:txBody>
      </p:sp>
      <p:sp>
        <p:nvSpPr>
          <p:cNvPr id="195" name="Google Shape;195;p23"/>
          <p:cNvSpPr txBox="1"/>
          <p:nvPr/>
        </p:nvSpPr>
        <p:spPr>
          <a:xfrm>
            <a:off x="2581275" y="2948136"/>
            <a:ext cx="7029450" cy="18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As the streaming era fragments the audience from massive single-screen theaters into individualized OTT algorithms, will the monolith hold? The shift in consumption is actively fracturing the unified 'common sense' that Bollywood once reliably produced for the masses.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663</Words>
  <Application>Microsoft Macintosh PowerPoint</Application>
  <PresentationFormat>Widescreen</PresentationFormat>
  <Paragraphs>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Inter</vt:lpstr>
      <vt:lpstr>Calibri</vt:lpstr>
      <vt:lpstr>Inter SemiBold</vt:lpstr>
      <vt:lpstr>Outfit SemiBold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Sonal Jha</cp:lastModifiedBy>
  <cp:revision>2</cp:revision>
  <dcterms:modified xsi:type="dcterms:W3CDTF">2026-03-20T02:46:15Z</dcterms:modified>
</cp:coreProperties>
</file>