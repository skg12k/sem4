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DM Sans" pitchFamily="2" charset="77"/>
      <p:regular r:id="rId12"/>
      <p:bold r:id="rId13"/>
      <p:italic r:id="rId14"/>
      <p:boldItalic r:id="rId15"/>
    </p:embeddedFont>
    <p:embeddedFont>
      <p:font typeface="Merriweather" pitchFamily="2" charset="77"/>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96"/>
    <p:restoredTop sz="94753"/>
  </p:normalViewPr>
  <p:slideViewPr>
    <p:cSldViewPr snapToGrid="0">
      <p:cViewPr>
        <p:scale>
          <a:sx n="100" d="100"/>
          <a:sy n="100" d="100"/>
        </p:scale>
        <p:origin x="960" y="3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571500"/>
            <a:ext cx="11049000" cy="5715000"/>
          </a:xfrm>
          <a:prstGeom prst="rect">
            <a:avLst/>
          </a:prstGeom>
          <a:noFill/>
          <a:ln>
            <a:noFill/>
          </a:ln>
        </p:spPr>
      </p:pic>
      <p:sp>
        <p:nvSpPr>
          <p:cNvPr id="86" name="Google Shape;86;p13"/>
          <p:cNvSpPr txBox="1"/>
          <p:nvPr/>
        </p:nvSpPr>
        <p:spPr>
          <a:xfrm>
            <a:off x="2490549" y="1876425"/>
            <a:ext cx="7210901" cy="1333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1E3A8A"/>
                </a:solidFill>
                <a:latin typeface="Merriweather"/>
                <a:ea typeface="Merriweather"/>
                <a:cs typeface="Merriweather"/>
                <a:sym typeface="Merriweather"/>
              </a:rPr>
              <a:t>Popular Culture:</a:t>
            </a:r>
            <a:br>
              <a:rPr lang="en-US" sz="1800" b="0" i="0" u="none" strike="noStrike" cap="none">
                <a:solidFill>
                  <a:schemeClr val="dk1"/>
                </a:solidFill>
                <a:latin typeface="Calibri"/>
                <a:ea typeface="Calibri"/>
                <a:cs typeface="Calibri"/>
                <a:sym typeface="Calibri"/>
              </a:rPr>
            </a:br>
            <a:r>
              <a:rPr lang="en-US" sz="4200" b="1" i="0" u="none" strike="noStrike" cap="none">
                <a:solidFill>
                  <a:srgbClr val="1E3A8A"/>
                </a:solidFill>
                <a:latin typeface="Merriweather"/>
                <a:ea typeface="Merriweather"/>
                <a:cs typeface="Merriweather"/>
                <a:sym typeface="Merriweather"/>
              </a:rPr>
              <a:t> The Academic Perspective</a:t>
            </a:r>
            <a:endParaRPr/>
          </a:p>
        </p:txBody>
      </p:sp>
      <p:sp>
        <p:nvSpPr>
          <p:cNvPr id="87" name="Google Shape;87;p13"/>
          <p:cNvSpPr/>
          <p:nvPr/>
        </p:nvSpPr>
        <p:spPr>
          <a:xfrm>
            <a:off x="5619750" y="3686175"/>
            <a:ext cx="952500" cy="38100"/>
          </a:xfrm>
          <a:prstGeom prst="rect">
            <a:avLst/>
          </a:prstGeom>
          <a:solidFill>
            <a:srgbClr val="1E3A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4965858" y="4010025"/>
            <a:ext cx="2260282"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374151"/>
                </a:solidFill>
                <a:latin typeface="Merriweather"/>
                <a:ea typeface="Merriweather"/>
                <a:cs typeface="Merriweather"/>
                <a:sym typeface="Merriweather"/>
              </a:rPr>
              <a:t>Sonal Jha, PhD</a:t>
            </a:r>
            <a:endParaRPr/>
          </a:p>
        </p:txBody>
      </p:sp>
      <p:sp>
        <p:nvSpPr>
          <p:cNvPr id="89" name="Google Shape;89;p13"/>
          <p:cNvSpPr txBox="1"/>
          <p:nvPr/>
        </p:nvSpPr>
        <p:spPr>
          <a:xfrm>
            <a:off x="4138612" y="4486275"/>
            <a:ext cx="391477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1" u="none" strike="noStrike" cap="none">
                <a:solidFill>
                  <a:srgbClr val="6B7280"/>
                </a:solidFill>
                <a:latin typeface="Merriweather"/>
                <a:ea typeface="Merriweather"/>
                <a:cs typeface="Merriweather"/>
                <a:sym typeface="Merriweather"/>
              </a:rPr>
              <a:t>Department of Humanities and Social Sciences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571500" y="1685925"/>
            <a:ext cx="5238750" cy="4600575"/>
          </a:xfrm>
          <a:prstGeom prst="rect">
            <a:avLst/>
          </a:prstGeom>
          <a:noFill/>
          <a:ln>
            <a:noFill/>
          </a:ln>
        </p:spPr>
      </p:pic>
      <p:pic>
        <p:nvPicPr>
          <p:cNvPr id="96" name="Google Shape;96;p14" descr="image.png"/>
          <p:cNvPicPr preferRelativeResize="0"/>
          <p:nvPr/>
        </p:nvPicPr>
        <p:blipFill rotWithShape="1">
          <a:blip r:embed="rId4">
            <a:alphaModFix/>
          </a:blip>
          <a:srcRect/>
          <a:stretch/>
        </p:blipFill>
        <p:spPr>
          <a:xfrm>
            <a:off x="6381750" y="1685925"/>
            <a:ext cx="5238750" cy="4600575"/>
          </a:xfrm>
          <a:prstGeom prst="rect">
            <a:avLst/>
          </a:prstGeom>
          <a:noFill/>
          <a:ln>
            <a:noFill/>
          </a:ln>
        </p:spPr>
      </p:pic>
      <p:sp>
        <p:nvSpPr>
          <p:cNvPr id="97" name="Google Shape;97;p14"/>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Theoretical Frameworks</a:t>
            </a:r>
            <a:endParaRPr/>
          </a:p>
        </p:txBody>
      </p:sp>
      <p:sp>
        <p:nvSpPr>
          <p:cNvPr id="98" name="Google Shape;98;p14"/>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txBox="1"/>
          <p:nvPr/>
        </p:nvSpPr>
        <p:spPr>
          <a:xfrm>
            <a:off x="962025" y="2105025"/>
            <a:ext cx="4680585"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The Frankfurt School</a:t>
            </a:r>
            <a:endParaRPr/>
          </a:p>
        </p:txBody>
      </p:sp>
      <p:sp>
        <p:nvSpPr>
          <p:cNvPr id="100" name="Google Shape;100;p14"/>
          <p:cNvSpPr/>
          <p:nvPr/>
        </p:nvSpPr>
        <p:spPr>
          <a:xfrm>
            <a:off x="962025" y="2543175"/>
            <a:ext cx="44577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txBox="1"/>
          <p:nvPr/>
        </p:nvSpPr>
        <p:spPr>
          <a:xfrm>
            <a:off x="962025" y="2724150"/>
            <a:ext cx="4457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74151"/>
                </a:solidFill>
                <a:latin typeface="DM Sans"/>
                <a:ea typeface="DM Sans"/>
                <a:cs typeface="DM Sans"/>
                <a:sym typeface="DM Sans"/>
              </a:rPr>
              <a:t>Critical Theory (Adorno &amp; Horkheimer)</a:t>
            </a:r>
            <a:endParaRPr/>
          </a:p>
        </p:txBody>
      </p:sp>
      <p:sp>
        <p:nvSpPr>
          <p:cNvPr id="102" name="Google Shape;102;p14"/>
          <p:cNvSpPr txBox="1"/>
          <p:nvPr/>
        </p:nvSpPr>
        <p:spPr>
          <a:xfrm>
            <a:off x="962025" y="3188940"/>
            <a:ext cx="445770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Views pop culture as </a:t>
            </a:r>
            <a:r>
              <a:rPr lang="en-US" sz="1500" b="1" i="0" u="none" strike="noStrike" cap="none">
                <a:solidFill>
                  <a:srgbClr val="1E3A8A"/>
                </a:solidFill>
                <a:latin typeface="DM Sans"/>
                <a:ea typeface="DM Sans"/>
                <a:cs typeface="DM Sans"/>
                <a:sym typeface="DM Sans"/>
              </a:rPr>
              <a:t>"The Culture Industry"</a:t>
            </a:r>
            <a:r>
              <a:rPr lang="en-US" sz="1500" b="0" i="0" u="none" strike="noStrike" cap="none">
                <a:solidFill>
                  <a:srgbClr val="374151"/>
                </a:solidFill>
                <a:latin typeface="DM Sans"/>
                <a:ea typeface="DM Sans"/>
                <a:cs typeface="DM Sans"/>
                <a:sym typeface="DM Sans"/>
              </a:rPr>
              <a:t>—a tool used by the ruling class to maintain a passive, distracted populace.</a:t>
            </a:r>
            <a:endParaRPr/>
          </a:p>
        </p:txBody>
      </p:sp>
      <p:sp>
        <p:nvSpPr>
          <p:cNvPr id="103" name="Google Shape;103;p14"/>
          <p:cNvSpPr txBox="1"/>
          <p:nvPr/>
        </p:nvSpPr>
        <p:spPr>
          <a:xfrm>
            <a:off x="962025" y="4293840"/>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Focuses on standardization and the elimination of critical thought.</a:t>
            </a:r>
            <a:endParaRPr/>
          </a:p>
        </p:txBody>
      </p:sp>
      <p:sp>
        <p:nvSpPr>
          <p:cNvPr id="104" name="Google Shape;104;p14"/>
          <p:cNvSpPr txBox="1"/>
          <p:nvPr/>
        </p:nvSpPr>
        <p:spPr>
          <a:xfrm>
            <a:off x="6772275" y="2105025"/>
            <a:ext cx="4680585"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The Birmingham School</a:t>
            </a:r>
            <a:endParaRPr/>
          </a:p>
        </p:txBody>
      </p:sp>
      <p:sp>
        <p:nvSpPr>
          <p:cNvPr id="105" name="Google Shape;105;p14"/>
          <p:cNvSpPr/>
          <p:nvPr/>
        </p:nvSpPr>
        <p:spPr>
          <a:xfrm>
            <a:off x="6772275" y="2543175"/>
            <a:ext cx="44577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txBox="1"/>
          <p:nvPr/>
        </p:nvSpPr>
        <p:spPr>
          <a:xfrm>
            <a:off x="6772275" y="2724150"/>
            <a:ext cx="44577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74151"/>
                </a:solidFill>
                <a:latin typeface="DM Sans"/>
                <a:ea typeface="DM Sans"/>
                <a:cs typeface="DM Sans"/>
                <a:sym typeface="DM Sans"/>
              </a:rPr>
              <a:t>Cultural Studies (Stuart Hall)</a:t>
            </a:r>
            <a:endParaRPr/>
          </a:p>
        </p:txBody>
      </p:sp>
      <p:sp>
        <p:nvSpPr>
          <p:cNvPr id="107" name="Google Shape;107;p14"/>
          <p:cNvSpPr txBox="1"/>
          <p:nvPr/>
        </p:nvSpPr>
        <p:spPr>
          <a:xfrm>
            <a:off x="6772275" y="3188940"/>
            <a:ext cx="4457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Views the audience not as passive victims but as </a:t>
            </a:r>
            <a:r>
              <a:rPr lang="en-US" sz="1500" b="1" i="0" u="none" strike="noStrike" cap="none">
                <a:solidFill>
                  <a:srgbClr val="1E3A8A"/>
                </a:solidFill>
                <a:latin typeface="DM Sans"/>
                <a:ea typeface="DM Sans"/>
                <a:cs typeface="DM Sans"/>
                <a:sym typeface="DM Sans"/>
              </a:rPr>
              <a:t>active agents</a:t>
            </a:r>
            <a:r>
              <a:rPr lang="en-US" sz="1500" b="0" i="0" u="none" strike="noStrike" cap="none">
                <a:solidFill>
                  <a:srgbClr val="374151"/>
                </a:solidFill>
                <a:latin typeface="DM Sans"/>
                <a:ea typeface="DM Sans"/>
                <a:cs typeface="DM Sans"/>
                <a:sym typeface="DM Sans"/>
              </a:rPr>
              <a:t>.</a:t>
            </a:r>
            <a:endParaRPr/>
          </a:p>
        </p:txBody>
      </p:sp>
      <p:sp>
        <p:nvSpPr>
          <p:cNvPr id="108" name="Google Shape;108;p14"/>
          <p:cNvSpPr txBox="1"/>
          <p:nvPr/>
        </p:nvSpPr>
        <p:spPr>
          <a:xfrm>
            <a:off x="6772275" y="3989040"/>
            <a:ext cx="44577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Pop culture is a "site of struggle" where meaning </a:t>
            </a:r>
            <a:r>
              <a:rPr lang="en-US" sz="1500" dirty="0">
                <a:solidFill>
                  <a:srgbClr val="374151"/>
                </a:solidFill>
                <a:latin typeface="DM Sans"/>
                <a:ea typeface="DM Sans"/>
                <a:cs typeface="DM Sans"/>
                <a:sym typeface="DM Sans"/>
              </a:rPr>
              <a:t>is</a:t>
            </a:r>
            <a:r>
              <a:rPr lang="en-US" sz="1500" b="0" i="0" u="none" strike="noStrike" cap="none" dirty="0">
                <a:solidFill>
                  <a:srgbClr val="374151"/>
                </a:solidFill>
                <a:latin typeface="DM Sans"/>
                <a:ea typeface="DM Sans"/>
                <a:cs typeface="DM Sans"/>
                <a:sym typeface="DM Sans"/>
              </a:rPr>
              <a:t> constantly negotiated, accepted, or rejected.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6381750" y="1843087"/>
            <a:ext cx="5238750" cy="4286250"/>
          </a:xfrm>
          <a:prstGeom prst="rect">
            <a:avLst/>
          </a:prstGeom>
          <a:noFill/>
          <a:ln>
            <a:noFill/>
          </a:ln>
        </p:spPr>
      </p:pic>
      <p:sp>
        <p:nvSpPr>
          <p:cNvPr id="115" name="Google Shape;115;p15"/>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The Frankfurt School: The Culture Industry</a:t>
            </a:r>
            <a:endParaRPr/>
          </a:p>
        </p:txBody>
      </p:sp>
      <p:sp>
        <p:nvSpPr>
          <p:cNvPr id="116" name="Google Shape;116;p15"/>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txBox="1"/>
          <p:nvPr/>
        </p:nvSpPr>
        <p:spPr>
          <a:xfrm>
            <a:off x="571500" y="2243137"/>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Adorno and Horkheimer rejected the term "Popular Culture," preferring "The Culture Industry" to highlight its manufactured nature.</a:t>
            </a:r>
            <a:endParaRPr/>
          </a:p>
        </p:txBody>
      </p:sp>
      <p:pic>
        <p:nvPicPr>
          <p:cNvPr id="118" name="Google Shape;118;p15" descr="image.png"/>
          <p:cNvPicPr preferRelativeResize="0"/>
          <p:nvPr/>
        </p:nvPicPr>
        <p:blipFill rotWithShape="1">
          <a:blip r:embed="rId5">
            <a:alphaModFix/>
          </a:blip>
          <a:srcRect/>
          <a:stretch/>
        </p:blipFill>
        <p:spPr>
          <a:xfrm>
            <a:off x="6381750" y="1843087"/>
            <a:ext cx="5238750" cy="4286250"/>
          </a:xfrm>
          <a:prstGeom prst="rect">
            <a:avLst/>
          </a:prstGeom>
          <a:noFill/>
          <a:ln>
            <a:noFill/>
          </a:ln>
        </p:spPr>
      </p:pic>
      <p:sp>
        <p:nvSpPr>
          <p:cNvPr id="119" name="Google Shape;119;p15"/>
          <p:cNvSpPr txBox="1"/>
          <p:nvPr/>
        </p:nvSpPr>
        <p:spPr>
          <a:xfrm>
            <a:off x="809625" y="3348037"/>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Standardization:</a:t>
            </a:r>
            <a:r>
              <a:rPr lang="en-US" sz="1500" b="0" i="0" u="none" strike="noStrike" cap="none">
                <a:solidFill>
                  <a:srgbClr val="374151"/>
                </a:solidFill>
                <a:latin typeface="DM Sans"/>
                <a:ea typeface="DM Sans"/>
                <a:cs typeface="DM Sans"/>
                <a:sym typeface="DM Sans"/>
              </a:rPr>
              <a:t> Media produces standardized goods (films, music) analogous to factory output.</a:t>
            </a:r>
            <a:endParaRPr/>
          </a:p>
        </p:txBody>
      </p:sp>
      <p:sp>
        <p:nvSpPr>
          <p:cNvPr id="120" name="Google Shape;120;p15"/>
          <p:cNvSpPr txBox="1"/>
          <p:nvPr/>
        </p:nvSpPr>
        <p:spPr>
          <a:xfrm>
            <a:off x="809625" y="4100512"/>
            <a:ext cx="50006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Passive Consumption:</a:t>
            </a:r>
            <a:r>
              <a:rPr lang="en-US" sz="1500" b="0" i="0" u="none" strike="noStrike" cap="none">
                <a:solidFill>
                  <a:srgbClr val="374151"/>
                </a:solidFill>
                <a:latin typeface="DM Sans"/>
                <a:ea typeface="DM Sans"/>
                <a:cs typeface="DM Sans"/>
                <a:sym typeface="DM Sans"/>
              </a:rPr>
              <a:t> While "High Art" demands intellectual engagement, pop culture encourages passivity.</a:t>
            </a:r>
            <a:endParaRPr/>
          </a:p>
        </p:txBody>
      </p:sp>
      <p:sp>
        <p:nvSpPr>
          <p:cNvPr id="121" name="Google Shape;121;p15"/>
          <p:cNvSpPr txBox="1"/>
          <p:nvPr/>
        </p:nvSpPr>
        <p:spPr>
          <a:xfrm>
            <a:off x="809625" y="5157787"/>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Social Consequence:</a:t>
            </a:r>
            <a:r>
              <a:rPr lang="en-US" sz="1500" b="0" i="0" u="none" strike="noStrike" cap="none">
                <a:solidFill>
                  <a:srgbClr val="374151"/>
                </a:solidFill>
                <a:latin typeface="DM Sans"/>
                <a:ea typeface="DM Sans"/>
                <a:cs typeface="DM Sans"/>
                <a:sym typeface="DM Sans"/>
              </a:rPr>
              <a:t> A distracted population is less likely to critically engage with political realities.</a:t>
            </a:r>
            <a:endParaRPr/>
          </a:p>
        </p:txBody>
      </p:sp>
      <p:sp>
        <p:nvSpPr>
          <p:cNvPr id="122" name="Google Shape;122;p15"/>
          <p:cNvSpPr txBox="1"/>
          <p:nvPr/>
        </p:nvSpPr>
        <p:spPr>
          <a:xfrm>
            <a:off x="571500" y="3328987"/>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23" name="Google Shape;123;p15"/>
          <p:cNvSpPr txBox="1"/>
          <p:nvPr/>
        </p:nvSpPr>
        <p:spPr>
          <a:xfrm>
            <a:off x="571500" y="4081462"/>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24" name="Google Shape;124;p15"/>
          <p:cNvSpPr txBox="1"/>
          <p:nvPr/>
        </p:nvSpPr>
        <p:spPr>
          <a:xfrm>
            <a:off x="571500" y="5138737"/>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28"/>
        <p:cNvGrpSpPr/>
        <p:nvPr/>
      </p:nvGrpSpPr>
      <p:grpSpPr>
        <a:xfrm>
          <a:off x="0" y="0"/>
          <a:ext cx="0" cy="0"/>
          <a:chOff x="0" y="0"/>
          <a:chExt cx="0" cy="0"/>
        </a:xfrm>
      </p:grpSpPr>
      <p:pic>
        <p:nvPicPr>
          <p:cNvPr id="129" name="Google Shape;12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0" name="Google Shape;130;p16" descr="image.png"/>
          <p:cNvPicPr preferRelativeResize="0"/>
          <p:nvPr/>
        </p:nvPicPr>
        <p:blipFill rotWithShape="1">
          <a:blip r:embed="rId4">
            <a:alphaModFix/>
          </a:blip>
          <a:srcRect/>
          <a:stretch/>
        </p:blipFill>
        <p:spPr>
          <a:xfrm>
            <a:off x="1809750" y="1862137"/>
            <a:ext cx="8572500" cy="4248150"/>
          </a:xfrm>
          <a:prstGeom prst="rect">
            <a:avLst/>
          </a:prstGeom>
          <a:noFill/>
          <a:ln>
            <a:noFill/>
          </a:ln>
        </p:spPr>
      </p:pic>
      <p:sp>
        <p:nvSpPr>
          <p:cNvPr id="131" name="Google Shape;131;p16"/>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Example: Barbie (Frankfurt Perspective)</a:t>
            </a:r>
            <a:endParaRPr/>
          </a:p>
        </p:txBody>
      </p:sp>
      <p:sp>
        <p:nvSpPr>
          <p:cNvPr id="132" name="Google Shape;132;p16"/>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6"/>
          <p:cNvSpPr txBox="1"/>
          <p:nvPr/>
        </p:nvSpPr>
        <p:spPr>
          <a:xfrm>
            <a:off x="2343150" y="2528887"/>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rgbClr val="374151"/>
                </a:solidFill>
                <a:latin typeface="DM Sans"/>
                <a:ea typeface="DM Sans"/>
                <a:cs typeface="DM Sans"/>
                <a:sym typeface="DM Sans"/>
              </a:rPr>
              <a:t>Barbie</a:t>
            </a:r>
            <a:r>
              <a:rPr lang="en-US" sz="1500" b="0" i="0" u="none" strike="noStrike" cap="none" dirty="0">
                <a:solidFill>
                  <a:srgbClr val="374151"/>
                </a:solidFill>
                <a:latin typeface="DM Sans"/>
                <a:ea typeface="DM Sans"/>
                <a:cs typeface="DM Sans"/>
                <a:sym typeface="DM Sans"/>
              </a:rPr>
              <a:t> is not a critique of patriarchy but a sophisticated product of the "Culture Industry" that commodifies feminism to rejuvenate a dying brand.</a:t>
            </a:r>
            <a:endParaRPr dirty="0"/>
          </a:p>
        </p:txBody>
      </p:sp>
      <p:sp>
        <p:nvSpPr>
          <p:cNvPr id="134" name="Google Shape;134;p16"/>
          <p:cNvSpPr txBox="1"/>
          <p:nvPr/>
        </p:nvSpPr>
        <p:spPr>
          <a:xfrm>
            <a:off x="2314575" y="3531013"/>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The audience feels they are participating in a feminist act by buying a ticket, replacing genuine political action with passive entertainment.</a:t>
            </a:r>
            <a:endParaRPr dirty="0"/>
          </a:p>
        </p:txBody>
      </p:sp>
      <p:sp>
        <p:nvSpPr>
          <p:cNvPr id="135" name="Google Shape;135;p16"/>
          <p:cNvSpPr txBox="1"/>
          <p:nvPr/>
        </p:nvSpPr>
        <p:spPr>
          <a:xfrm>
            <a:off x="2343150" y="4529137"/>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Barbie become ‘human’ at the end of the film, to be subsumed in th</a:t>
            </a:r>
            <a:r>
              <a:rPr lang="en-US" sz="1500" dirty="0">
                <a:solidFill>
                  <a:srgbClr val="374151"/>
                </a:solidFill>
                <a:latin typeface="DM Sans"/>
                <a:ea typeface="DM Sans"/>
                <a:cs typeface="DM Sans"/>
                <a:sym typeface="DM Sans"/>
              </a:rPr>
              <a:t>e </a:t>
            </a:r>
            <a:r>
              <a:rPr lang="en-US" sz="1500" b="0" i="0" u="none" strike="noStrike" cap="none" dirty="0">
                <a:solidFill>
                  <a:srgbClr val="374151"/>
                </a:solidFill>
                <a:latin typeface="DM Sans"/>
                <a:ea typeface="DM Sans"/>
                <a:cs typeface="DM Sans"/>
                <a:sym typeface="DM Sans"/>
              </a:rPr>
              <a:t>existing social structure – validation of status quo.</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39"/>
        <p:cNvGrpSpPr/>
        <p:nvPr/>
      </p:nvGrpSpPr>
      <p:grpSpPr>
        <a:xfrm>
          <a:off x="0" y="0"/>
          <a:ext cx="0" cy="0"/>
          <a:chOff x="0" y="0"/>
          <a:chExt cx="0" cy="0"/>
        </a:xfrm>
      </p:grpSpPr>
      <p:pic>
        <p:nvPicPr>
          <p:cNvPr id="140" name="Google Shape;140;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7" descr="image.png"/>
          <p:cNvPicPr preferRelativeResize="0"/>
          <p:nvPr/>
        </p:nvPicPr>
        <p:blipFill rotWithShape="1">
          <a:blip r:embed="rId4">
            <a:alphaModFix/>
          </a:blip>
          <a:srcRect/>
          <a:stretch/>
        </p:blipFill>
        <p:spPr>
          <a:xfrm>
            <a:off x="6467475" y="2047875"/>
            <a:ext cx="4914900" cy="3619500"/>
          </a:xfrm>
          <a:prstGeom prst="rect">
            <a:avLst/>
          </a:prstGeom>
          <a:noFill/>
          <a:ln>
            <a:noFill/>
          </a:ln>
        </p:spPr>
      </p:pic>
      <p:sp>
        <p:nvSpPr>
          <p:cNvPr id="142" name="Google Shape;142;p17"/>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The Birmingham School: Active Audiences</a:t>
            </a:r>
            <a:endParaRPr/>
          </a:p>
        </p:txBody>
      </p:sp>
      <p:sp>
        <p:nvSpPr>
          <p:cNvPr id="143" name="Google Shape;143;p17"/>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7"/>
          <p:cNvSpPr txBox="1"/>
          <p:nvPr/>
        </p:nvSpPr>
        <p:spPr>
          <a:xfrm>
            <a:off x="571500" y="2040731"/>
            <a:ext cx="52387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Stuart Hall argued that audiences are not passive "cultural dupes" but active interpreters who bring their own context to media.</a:t>
            </a:r>
            <a:endParaRPr dirty="0"/>
          </a:p>
        </p:txBody>
      </p:sp>
      <p:sp>
        <p:nvSpPr>
          <p:cNvPr id="145" name="Google Shape;145;p17"/>
          <p:cNvSpPr txBox="1"/>
          <p:nvPr/>
        </p:nvSpPr>
        <p:spPr>
          <a:xfrm>
            <a:off x="571500" y="3290887"/>
            <a:ext cx="5500687"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dirty="0">
                <a:solidFill>
                  <a:srgbClr val="1E40AF"/>
                </a:solidFill>
                <a:latin typeface="Merriweather"/>
                <a:ea typeface="Merriweather"/>
                <a:cs typeface="Merriweather"/>
                <a:sym typeface="Merriweather"/>
              </a:rPr>
              <a:t>Hall’s </a:t>
            </a:r>
            <a:r>
              <a:rPr lang="en-US" sz="1650" b="1" i="0" u="none" strike="noStrike" cap="none" dirty="0">
                <a:solidFill>
                  <a:srgbClr val="1E40AF"/>
                </a:solidFill>
                <a:latin typeface="Merriweather"/>
                <a:ea typeface="Merriweather"/>
                <a:cs typeface="Merriweather"/>
                <a:sym typeface="Merriweather"/>
              </a:rPr>
              <a:t>Encoding/Decoding Model:</a:t>
            </a:r>
            <a:endParaRPr dirty="0"/>
          </a:p>
        </p:txBody>
      </p:sp>
      <p:sp>
        <p:nvSpPr>
          <p:cNvPr id="147" name="Google Shape;147;p17"/>
          <p:cNvSpPr txBox="1"/>
          <p:nvPr/>
        </p:nvSpPr>
        <p:spPr>
          <a:xfrm>
            <a:off x="809625" y="3709987"/>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Dominant Reading:</a:t>
            </a:r>
            <a:r>
              <a:rPr lang="en-US" sz="1500" b="0" i="0" u="none" strike="noStrike" cap="none">
                <a:solidFill>
                  <a:srgbClr val="374151"/>
                </a:solidFill>
                <a:latin typeface="DM Sans"/>
                <a:ea typeface="DM Sans"/>
                <a:cs typeface="DM Sans"/>
                <a:sym typeface="DM Sans"/>
              </a:rPr>
              <a:t> The message is accepted as intended.</a:t>
            </a:r>
            <a:endParaRPr/>
          </a:p>
        </p:txBody>
      </p:sp>
      <p:sp>
        <p:nvSpPr>
          <p:cNvPr id="148" name="Google Shape;148;p17"/>
          <p:cNvSpPr txBox="1"/>
          <p:nvPr/>
        </p:nvSpPr>
        <p:spPr>
          <a:xfrm>
            <a:off x="809625" y="4462462"/>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Negotiated Reading:</a:t>
            </a:r>
            <a:r>
              <a:rPr lang="en-US" sz="1500" b="0" i="0" u="none" strike="noStrike" cap="none">
                <a:solidFill>
                  <a:srgbClr val="374151"/>
                </a:solidFill>
                <a:latin typeface="DM Sans"/>
                <a:ea typeface="DM Sans"/>
                <a:cs typeface="DM Sans"/>
                <a:sym typeface="DM Sans"/>
              </a:rPr>
              <a:t> Parts are accepted, while others are rejected or modified.</a:t>
            </a:r>
            <a:endParaRPr/>
          </a:p>
        </p:txBody>
      </p:sp>
      <p:sp>
        <p:nvSpPr>
          <p:cNvPr id="149" name="Google Shape;149;p17"/>
          <p:cNvSpPr txBox="1"/>
          <p:nvPr/>
        </p:nvSpPr>
        <p:spPr>
          <a:xfrm>
            <a:off x="809625" y="5214937"/>
            <a:ext cx="500062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3A8A"/>
                </a:solidFill>
                <a:latin typeface="DM Sans"/>
                <a:ea typeface="DM Sans"/>
                <a:cs typeface="DM Sans"/>
                <a:sym typeface="DM Sans"/>
              </a:rPr>
              <a:t>Oppositional Reading:</a:t>
            </a:r>
            <a:r>
              <a:rPr lang="en-US" sz="1500" b="0" i="0" u="none" strike="noStrike" cap="none">
                <a:solidFill>
                  <a:srgbClr val="374151"/>
                </a:solidFill>
                <a:latin typeface="DM Sans"/>
                <a:ea typeface="DM Sans"/>
                <a:cs typeface="DM Sans"/>
                <a:sym typeface="DM Sans"/>
              </a:rPr>
              <a:t> The message is understood but completely rejected.</a:t>
            </a:r>
            <a:endParaRPr/>
          </a:p>
        </p:txBody>
      </p:sp>
      <p:sp>
        <p:nvSpPr>
          <p:cNvPr id="150" name="Google Shape;150;p17"/>
          <p:cNvSpPr txBox="1"/>
          <p:nvPr/>
        </p:nvSpPr>
        <p:spPr>
          <a:xfrm>
            <a:off x="571500" y="3690937"/>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51" name="Google Shape;151;p17"/>
          <p:cNvSpPr txBox="1"/>
          <p:nvPr/>
        </p:nvSpPr>
        <p:spPr>
          <a:xfrm>
            <a:off x="571500" y="4443412"/>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sp>
        <p:nvSpPr>
          <p:cNvPr id="152" name="Google Shape;152;p17"/>
          <p:cNvSpPr txBox="1"/>
          <p:nvPr/>
        </p:nvSpPr>
        <p:spPr>
          <a:xfrm>
            <a:off x="571500" y="5195887"/>
            <a:ext cx="85725" cy="22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E3A8A"/>
                </a:solidFill>
                <a:latin typeface="DM Sans"/>
                <a:ea typeface="DM Sans"/>
                <a:cs typeface="DM Sans"/>
                <a:sym typeface="DM Sans"/>
              </a:rPr>
              <a:t>•</a:t>
            </a:r>
            <a:endParaRPr/>
          </a:p>
        </p:txBody>
      </p:sp>
      <p:pic>
        <p:nvPicPr>
          <p:cNvPr id="2" name="Google Shape;296;p25" descr="image.png">
            <a:extLst>
              <a:ext uri="{FF2B5EF4-FFF2-40B4-BE49-F238E27FC236}">
                <a16:creationId xmlns:a16="http://schemas.microsoft.com/office/drawing/2014/main" id="{BA2D4087-DA0E-90F5-F0CD-F1ABBC5EF291}"/>
              </a:ext>
            </a:extLst>
          </p:cNvPr>
          <p:cNvPicPr preferRelativeResize="0"/>
          <p:nvPr/>
        </p:nvPicPr>
        <p:blipFill rotWithShape="1">
          <a:blip r:embed="rId5">
            <a:alphaModFix/>
          </a:blip>
          <a:srcRect/>
          <a:stretch/>
        </p:blipFill>
        <p:spPr>
          <a:xfrm>
            <a:off x="6467475" y="2047875"/>
            <a:ext cx="4876800" cy="3638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8" name="Google Shape;158;p18" descr="image.png"/>
          <p:cNvPicPr preferRelativeResize="0"/>
          <p:nvPr/>
        </p:nvPicPr>
        <p:blipFill rotWithShape="1">
          <a:blip r:embed="rId4">
            <a:alphaModFix/>
          </a:blip>
          <a:srcRect/>
          <a:stretch/>
        </p:blipFill>
        <p:spPr>
          <a:xfrm>
            <a:off x="1809750" y="1519237"/>
            <a:ext cx="8572500" cy="4933950"/>
          </a:xfrm>
          <a:prstGeom prst="rect">
            <a:avLst/>
          </a:prstGeom>
          <a:noFill/>
          <a:ln>
            <a:noFill/>
          </a:ln>
        </p:spPr>
      </p:pic>
      <p:sp>
        <p:nvSpPr>
          <p:cNvPr id="159" name="Google Shape;159;p18"/>
          <p:cNvSpPr txBox="1"/>
          <p:nvPr/>
        </p:nvSpPr>
        <p:spPr>
          <a:xfrm>
            <a:off x="571500" y="404812"/>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Example: Barbie (Birmingham Perspective)</a:t>
            </a:r>
            <a:endParaRPr/>
          </a:p>
        </p:txBody>
      </p:sp>
      <p:sp>
        <p:nvSpPr>
          <p:cNvPr id="160" name="Google Shape;160;p18"/>
          <p:cNvSpPr/>
          <p:nvPr/>
        </p:nvSpPr>
        <p:spPr>
          <a:xfrm>
            <a:off x="571500" y="1119187"/>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8"/>
          <p:cNvSpPr txBox="1"/>
          <p:nvPr/>
        </p:nvSpPr>
        <p:spPr>
          <a:xfrm>
            <a:off x="2343150" y="2185987"/>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The movie is a space where audiences actively negotiate meaning rather than just absorbing it.</a:t>
            </a:r>
            <a:endParaRPr dirty="0"/>
          </a:p>
        </p:txBody>
      </p:sp>
      <p:sp>
        <p:nvSpPr>
          <p:cNvPr id="162" name="Google Shape;162;p18"/>
          <p:cNvSpPr txBox="1"/>
          <p:nvPr/>
        </p:nvSpPr>
        <p:spPr>
          <a:xfrm>
            <a:off x="2343150" y="3124199"/>
            <a:ext cx="75628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1E3A8A"/>
                </a:solidFill>
                <a:latin typeface="DM Sans"/>
                <a:ea typeface="DM Sans"/>
                <a:cs typeface="DM Sans"/>
                <a:sym typeface="DM Sans"/>
              </a:rPr>
              <a:t>Varied Readings:</a:t>
            </a:r>
            <a:endParaRPr dirty="0"/>
          </a:p>
        </p:txBody>
      </p:sp>
      <p:sp>
        <p:nvSpPr>
          <p:cNvPr id="163" name="Google Shape;163;p18"/>
          <p:cNvSpPr txBox="1"/>
          <p:nvPr/>
        </p:nvSpPr>
        <p:spPr>
          <a:xfrm>
            <a:off x="2343150" y="5176837"/>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The meaning of </a:t>
            </a:r>
            <a:r>
              <a:rPr lang="en-US" sz="1500" b="0" i="1" u="none" strike="noStrike" cap="none" dirty="0">
                <a:solidFill>
                  <a:srgbClr val="374151"/>
                </a:solidFill>
                <a:latin typeface="DM Sans"/>
                <a:ea typeface="DM Sans"/>
                <a:cs typeface="DM Sans"/>
                <a:sym typeface="DM Sans"/>
              </a:rPr>
              <a:t>Barbie</a:t>
            </a:r>
            <a:r>
              <a:rPr lang="en-US" sz="1500" b="0" i="0" u="none" strike="noStrike" cap="none" dirty="0">
                <a:solidFill>
                  <a:srgbClr val="374151"/>
                </a:solidFill>
                <a:latin typeface="DM Sans"/>
                <a:ea typeface="DM Sans"/>
                <a:cs typeface="DM Sans"/>
                <a:sym typeface="DM Sans"/>
              </a:rPr>
              <a:t> is found in the </a:t>
            </a:r>
            <a:r>
              <a:rPr lang="en-US" sz="1500" b="1" i="0" u="none" strike="noStrike" cap="none" dirty="0">
                <a:solidFill>
                  <a:srgbClr val="1E3A8A"/>
                </a:solidFill>
                <a:latin typeface="DM Sans"/>
                <a:ea typeface="DM Sans"/>
                <a:cs typeface="DM Sans"/>
                <a:sym typeface="DM Sans"/>
              </a:rPr>
              <a:t>active relationship</a:t>
            </a:r>
            <a:r>
              <a:rPr lang="en-US" sz="1500" b="0" i="0" u="none" strike="noStrike" cap="none" dirty="0">
                <a:solidFill>
                  <a:srgbClr val="374151"/>
                </a:solidFill>
                <a:latin typeface="DM Sans"/>
                <a:ea typeface="DM Sans"/>
                <a:cs typeface="DM Sans"/>
                <a:sym typeface="DM Sans"/>
              </a:rPr>
              <a:t> between the text and the audience.</a:t>
            </a:r>
            <a:endParaRPr dirty="0"/>
          </a:p>
        </p:txBody>
      </p:sp>
      <p:sp>
        <p:nvSpPr>
          <p:cNvPr id="164" name="Google Shape;164;p18"/>
          <p:cNvSpPr txBox="1"/>
          <p:nvPr/>
        </p:nvSpPr>
        <p:spPr>
          <a:xfrm>
            <a:off x="2314575" y="3469826"/>
            <a:ext cx="75628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rgbClr val="374151"/>
                </a:solidFill>
                <a:latin typeface="DM Sans"/>
                <a:ea typeface="DM Sans"/>
                <a:cs typeface="DM Sans"/>
                <a:sym typeface="DM Sans"/>
              </a:rPr>
              <a:t>Dominant:</a:t>
            </a:r>
            <a:r>
              <a:rPr lang="en-US" sz="1500" b="0" i="0" u="none" strike="noStrike" cap="none" dirty="0">
                <a:solidFill>
                  <a:srgbClr val="374151"/>
                </a:solidFill>
                <a:latin typeface="DM Sans"/>
                <a:ea typeface="DM Sans"/>
                <a:cs typeface="DM Sans"/>
                <a:sym typeface="DM Sans"/>
              </a:rPr>
              <a:t> Agree with the feminist message.</a:t>
            </a:r>
            <a:endParaRPr dirty="0"/>
          </a:p>
        </p:txBody>
      </p:sp>
      <p:sp>
        <p:nvSpPr>
          <p:cNvPr id="165" name="Google Shape;165;p18"/>
          <p:cNvSpPr txBox="1"/>
          <p:nvPr/>
        </p:nvSpPr>
        <p:spPr>
          <a:xfrm>
            <a:off x="2314575" y="3895248"/>
            <a:ext cx="75628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rgbClr val="374151"/>
                </a:solidFill>
                <a:latin typeface="DM Sans"/>
                <a:ea typeface="DM Sans"/>
                <a:cs typeface="DM Sans"/>
                <a:sym typeface="DM Sans"/>
              </a:rPr>
              <a:t>Negotiated:</a:t>
            </a:r>
            <a:r>
              <a:rPr lang="en-US" sz="1500" b="0" i="0" u="none" strike="noStrike" cap="none" dirty="0">
                <a:solidFill>
                  <a:srgbClr val="374151"/>
                </a:solidFill>
                <a:latin typeface="DM Sans"/>
                <a:ea typeface="DM Sans"/>
                <a:cs typeface="DM Sans"/>
                <a:sym typeface="DM Sans"/>
              </a:rPr>
              <a:t> See it as a corporate toy commercial but appreciate the mother-daughter narrative.</a:t>
            </a:r>
            <a:endParaRPr dirty="0"/>
          </a:p>
        </p:txBody>
      </p:sp>
      <p:sp>
        <p:nvSpPr>
          <p:cNvPr id="166" name="Google Shape;166;p18"/>
          <p:cNvSpPr txBox="1"/>
          <p:nvPr/>
        </p:nvSpPr>
        <p:spPr>
          <a:xfrm>
            <a:off x="2343150" y="4633912"/>
            <a:ext cx="75628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rgbClr val="374151"/>
                </a:solidFill>
                <a:latin typeface="DM Sans"/>
                <a:ea typeface="DM Sans"/>
                <a:cs typeface="DM Sans"/>
                <a:sym typeface="DM Sans"/>
              </a:rPr>
              <a:t>Oppositional:</a:t>
            </a:r>
            <a:r>
              <a:rPr lang="en-US" sz="1500" b="0" i="0" u="none" strike="noStrike" cap="none" dirty="0">
                <a:solidFill>
                  <a:srgbClr val="374151"/>
                </a:solidFill>
                <a:latin typeface="DM Sans"/>
                <a:ea typeface="DM Sans"/>
                <a:cs typeface="DM Sans"/>
                <a:sym typeface="DM Sans"/>
              </a:rPr>
              <a:t> Dismiss it as 'plastic feminism' or 'anti-man propaganda'.</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70"/>
        <p:cNvGrpSpPr/>
        <p:nvPr/>
      </p:nvGrpSpPr>
      <p:grpSpPr>
        <a:xfrm>
          <a:off x="0" y="0"/>
          <a:ext cx="0" cy="0"/>
          <a:chOff x="0" y="0"/>
          <a:chExt cx="0" cy="0"/>
        </a:xfrm>
      </p:grpSpPr>
      <p:pic>
        <p:nvPicPr>
          <p:cNvPr id="171" name="Google Shape;171;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4" name="Google Shape;174;p19"/>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Why Study Pop Culture? (I)</a:t>
            </a:r>
            <a:endParaRPr/>
          </a:p>
        </p:txBody>
      </p:sp>
      <p:sp>
        <p:nvSpPr>
          <p:cNvPr id="175" name="Google Shape;175;p19"/>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9"/>
          <p:cNvSpPr txBox="1"/>
          <p:nvPr/>
        </p:nvSpPr>
        <p:spPr>
          <a:xfrm>
            <a:off x="571499" y="1733550"/>
            <a:ext cx="5500687"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Rejecting Elitism</a:t>
            </a:r>
            <a:endParaRPr/>
          </a:p>
        </p:txBody>
      </p:sp>
      <p:sp>
        <p:nvSpPr>
          <p:cNvPr id="177" name="Google Shape;177;p19"/>
          <p:cNvSpPr txBox="1"/>
          <p:nvPr/>
        </p:nvSpPr>
        <p:spPr>
          <a:xfrm>
            <a:off x="571499" y="2205923"/>
            <a:ext cx="523875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The academic turn toward pop culture (c. 1970s) rejected the idea that culture is only the "best that has been thought and said" (High Culture as per Arnold). Instead, it views culture as a </a:t>
            </a:r>
            <a:r>
              <a:rPr lang="en-US" sz="1500" b="1" i="0" u="none" strike="noStrike" cap="none" dirty="0">
                <a:solidFill>
                  <a:srgbClr val="1E3A8A"/>
                </a:solidFill>
                <a:latin typeface="DM Sans"/>
                <a:ea typeface="DM Sans"/>
                <a:cs typeface="DM Sans"/>
                <a:sym typeface="DM Sans"/>
              </a:rPr>
              <a:t>whole way of life</a:t>
            </a:r>
            <a:r>
              <a:rPr lang="en-US" sz="1500" b="0" i="0" u="none" strike="noStrike" cap="none" dirty="0">
                <a:solidFill>
                  <a:srgbClr val="374151"/>
                </a:solidFill>
                <a:latin typeface="DM Sans"/>
                <a:ea typeface="DM Sans"/>
                <a:cs typeface="DM Sans"/>
                <a:sym typeface="DM Sans"/>
              </a:rPr>
              <a:t>.</a:t>
            </a:r>
            <a:endParaRPr dirty="0"/>
          </a:p>
        </p:txBody>
      </p:sp>
      <p:sp>
        <p:nvSpPr>
          <p:cNvPr id="178" name="Google Shape;178;p19"/>
          <p:cNvSpPr txBox="1"/>
          <p:nvPr/>
        </p:nvSpPr>
        <p:spPr>
          <a:xfrm>
            <a:off x="571500" y="3986212"/>
            <a:ext cx="5500687"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dirty="0">
                <a:solidFill>
                  <a:srgbClr val="1E40AF"/>
                </a:solidFill>
                <a:latin typeface="Merriweather"/>
                <a:ea typeface="Merriweather"/>
                <a:cs typeface="Merriweather"/>
                <a:sym typeface="Merriweather"/>
              </a:rPr>
              <a:t>Alternate</a:t>
            </a:r>
            <a:r>
              <a:rPr lang="en-US" sz="2100" b="1" i="0" u="none" strike="noStrike" cap="none" dirty="0">
                <a:solidFill>
                  <a:srgbClr val="1E40AF"/>
                </a:solidFill>
                <a:latin typeface="Merriweather"/>
                <a:ea typeface="Merriweather"/>
                <a:cs typeface="Merriweather"/>
                <a:sym typeface="Merriweather"/>
              </a:rPr>
              <a:t> Archive</a:t>
            </a:r>
            <a:endParaRPr dirty="0"/>
          </a:p>
        </p:txBody>
      </p:sp>
      <p:sp>
        <p:nvSpPr>
          <p:cNvPr id="179" name="Google Shape;179;p19"/>
          <p:cNvSpPr txBox="1"/>
          <p:nvPr/>
        </p:nvSpPr>
        <p:spPr>
          <a:xfrm>
            <a:off x="571500" y="4519612"/>
            <a:ext cx="5238750" cy="18466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While official history records wars and laws, pop culture records the texture of everyday life – slang, fashion, music – provides a view of society not captured in history books. For example, the evolution of the Bollywood hero reflects the changing socio-political </a:t>
            </a:r>
            <a:r>
              <a:rPr lang="en-US" sz="1500" dirty="0">
                <a:solidFill>
                  <a:srgbClr val="374151"/>
                </a:solidFill>
                <a:latin typeface="DM Sans"/>
                <a:ea typeface="DM Sans"/>
                <a:cs typeface="DM Sans"/>
                <a:sym typeface="DM Sans"/>
              </a:rPr>
              <a:t>conditions</a:t>
            </a:r>
            <a:r>
              <a:rPr lang="en-US" sz="1500" b="0" i="0" u="none" strike="noStrike" cap="none" dirty="0">
                <a:solidFill>
                  <a:srgbClr val="374151"/>
                </a:solidFill>
                <a:latin typeface="DM Sans"/>
                <a:ea typeface="DM Sans"/>
                <a:cs typeface="DM Sans"/>
                <a:sym typeface="DM Sans"/>
              </a:rPr>
              <a:t> of the Indian nation.</a:t>
            </a:r>
            <a:endParaRPr dirty="0"/>
          </a:p>
        </p:txBody>
      </p:sp>
      <p:pic>
        <p:nvPicPr>
          <p:cNvPr id="5" name="Picture 4" descr="A collage of a person&#10;&#10;Description automatically generated">
            <a:extLst>
              <a:ext uri="{FF2B5EF4-FFF2-40B4-BE49-F238E27FC236}">
                <a16:creationId xmlns:a16="http://schemas.microsoft.com/office/drawing/2014/main" id="{99DB47BC-3483-7123-AA93-A5E9EE371240}"/>
              </a:ext>
            </a:extLst>
          </p:cNvPr>
          <p:cNvPicPr>
            <a:picLocks noChangeAspect="1"/>
          </p:cNvPicPr>
          <p:nvPr/>
        </p:nvPicPr>
        <p:blipFill>
          <a:blip r:embed="rId4"/>
          <a:stretch>
            <a:fillRect/>
          </a:stretch>
        </p:blipFill>
        <p:spPr>
          <a:xfrm>
            <a:off x="5987290" y="2205922"/>
            <a:ext cx="5918959" cy="35613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187"/>
        <p:cNvGrpSpPr/>
        <p:nvPr/>
      </p:nvGrpSpPr>
      <p:grpSpPr>
        <a:xfrm>
          <a:off x="0" y="0"/>
          <a:ext cx="0" cy="0"/>
          <a:chOff x="0" y="0"/>
          <a:chExt cx="0" cy="0"/>
        </a:xfrm>
      </p:grpSpPr>
      <p:pic>
        <p:nvPicPr>
          <p:cNvPr id="188" name="Google Shape;18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1" name="Google Shape;191;p20"/>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1E3A8A"/>
                </a:solidFill>
                <a:latin typeface="Merriweather"/>
                <a:ea typeface="Merriweather"/>
                <a:cs typeface="Merriweather"/>
                <a:sym typeface="Merriweather"/>
              </a:rPr>
              <a:t>Why Study Pop Culture? (II)</a:t>
            </a:r>
            <a:endParaRPr dirty="0"/>
          </a:p>
        </p:txBody>
      </p:sp>
      <p:sp>
        <p:nvSpPr>
          <p:cNvPr id="192" name="Google Shape;192;p20"/>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20"/>
          <p:cNvSpPr txBox="1"/>
          <p:nvPr/>
        </p:nvSpPr>
        <p:spPr>
          <a:xfrm>
            <a:off x="571500" y="2499426"/>
            <a:ext cx="5238750" cy="258532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74151"/>
                </a:solidFill>
                <a:latin typeface="DM Sans"/>
                <a:ea typeface="DM Sans"/>
                <a:cs typeface="DM Sans"/>
                <a:sym typeface="DM Sans"/>
              </a:rPr>
              <a:t>We study popular culture not because it is ‘good’ in an aesthetic sense but because it is socially consequential. It is an arena where social values are reflected and contested</a:t>
            </a:r>
          </a:p>
          <a:p>
            <a:pPr marL="0" marR="0" lvl="0" indent="0" algn="l" rtl="0">
              <a:lnSpc>
                <a:spcPct val="160000"/>
              </a:lnSpc>
              <a:spcBef>
                <a:spcPts val="0"/>
              </a:spcBef>
              <a:spcAft>
                <a:spcPts val="0"/>
              </a:spcAft>
              <a:buNone/>
            </a:pPr>
            <a:endParaRPr lang="en-US" sz="1500" b="0" i="0" u="none" strike="noStrike" cap="none" dirty="0">
              <a:solidFill>
                <a:srgbClr val="374151"/>
              </a:solidFill>
              <a:latin typeface="DM Sans"/>
              <a:ea typeface="DM Sans"/>
              <a:cs typeface="DM Sans"/>
              <a:sym typeface="DM Sans"/>
            </a:endParaRPr>
          </a:p>
          <a:p>
            <a:pPr marL="0" marR="0" lvl="0" indent="0" algn="l" rtl="0">
              <a:lnSpc>
                <a:spcPct val="160000"/>
              </a:lnSpc>
              <a:spcBef>
                <a:spcPts val="0"/>
              </a:spcBef>
              <a:spcAft>
                <a:spcPts val="0"/>
              </a:spcAft>
              <a:buNone/>
            </a:pPr>
            <a:r>
              <a:rPr lang="en-US" sz="1500" dirty="0">
                <a:solidFill>
                  <a:srgbClr val="374151"/>
                </a:solidFill>
                <a:latin typeface="DM Sans"/>
                <a:ea typeface="DM Sans"/>
                <a:cs typeface="DM Sans"/>
                <a:sym typeface="DM Sans"/>
              </a:rPr>
              <a:t>For example, t</a:t>
            </a:r>
            <a:r>
              <a:rPr lang="en-US" sz="1500" b="0" i="0" u="none" strike="noStrike" cap="none" dirty="0">
                <a:solidFill>
                  <a:srgbClr val="374151"/>
                </a:solidFill>
                <a:latin typeface="DM Sans"/>
                <a:ea typeface="DM Sans"/>
                <a:cs typeface="DM Sans"/>
                <a:sym typeface="DM Sans"/>
              </a:rPr>
              <a:t>he works of Chetan Bhagat, document the aspirations of the middle class, the rise of call center culture, and the anxieties of modern Indian youth.</a:t>
            </a:r>
            <a:endParaRPr dirty="0"/>
          </a:p>
        </p:txBody>
      </p:sp>
      <p:pic>
        <p:nvPicPr>
          <p:cNvPr id="197" name="Google Shape;197;p20" descr="image.png"/>
          <p:cNvPicPr preferRelativeResize="0"/>
          <p:nvPr/>
        </p:nvPicPr>
        <p:blipFill rotWithShape="1">
          <a:blip r:embed="rId4">
            <a:alphaModFix/>
          </a:blip>
          <a:srcRect/>
          <a:stretch/>
        </p:blipFill>
        <p:spPr>
          <a:xfrm>
            <a:off x="7314098" y="1460698"/>
            <a:ext cx="1499455" cy="2477889"/>
          </a:xfrm>
          <a:prstGeom prst="rect">
            <a:avLst/>
          </a:prstGeom>
          <a:noFill/>
          <a:ln>
            <a:noFill/>
          </a:ln>
        </p:spPr>
      </p:pic>
      <p:pic>
        <p:nvPicPr>
          <p:cNvPr id="198" name="Google Shape;198;p20" descr="image.png"/>
          <p:cNvPicPr preferRelativeResize="0"/>
          <p:nvPr/>
        </p:nvPicPr>
        <p:blipFill rotWithShape="1">
          <a:blip r:embed="rId5">
            <a:alphaModFix/>
          </a:blip>
          <a:srcRect/>
          <a:stretch/>
        </p:blipFill>
        <p:spPr>
          <a:xfrm>
            <a:off x="9484768" y="1546423"/>
            <a:ext cx="1665263" cy="2439789"/>
          </a:xfrm>
          <a:prstGeom prst="rect">
            <a:avLst/>
          </a:prstGeom>
          <a:noFill/>
          <a:ln>
            <a:noFill/>
          </a:ln>
        </p:spPr>
      </p:pic>
      <p:pic>
        <p:nvPicPr>
          <p:cNvPr id="199" name="Google Shape;199;p20" descr="image.png"/>
          <p:cNvPicPr preferRelativeResize="0"/>
          <p:nvPr/>
        </p:nvPicPr>
        <p:blipFill rotWithShape="1">
          <a:blip r:embed="rId6">
            <a:alphaModFix/>
          </a:blip>
          <a:srcRect/>
          <a:stretch/>
        </p:blipFill>
        <p:spPr>
          <a:xfrm>
            <a:off x="7314098" y="4265216"/>
            <a:ext cx="1499455" cy="2541786"/>
          </a:xfrm>
          <a:prstGeom prst="rect">
            <a:avLst/>
          </a:prstGeom>
          <a:noFill/>
          <a:ln>
            <a:noFill/>
          </a:ln>
        </p:spPr>
      </p:pic>
      <p:pic>
        <p:nvPicPr>
          <p:cNvPr id="200" name="Google Shape;200;p20" descr="image.png"/>
          <p:cNvPicPr preferRelativeResize="0"/>
          <p:nvPr/>
        </p:nvPicPr>
        <p:blipFill rotWithShape="1">
          <a:blip r:embed="rId7">
            <a:alphaModFix/>
          </a:blip>
          <a:srcRect/>
          <a:stretch/>
        </p:blipFill>
        <p:spPr>
          <a:xfrm>
            <a:off x="9484769" y="4265216"/>
            <a:ext cx="1665263" cy="25417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Shape 204"/>
        <p:cNvGrpSpPr/>
        <p:nvPr/>
      </p:nvGrpSpPr>
      <p:grpSpPr>
        <a:xfrm>
          <a:off x="0" y="0"/>
          <a:ext cx="0" cy="0"/>
          <a:chOff x="0" y="0"/>
          <a:chExt cx="0" cy="0"/>
        </a:xfrm>
      </p:grpSpPr>
      <p:pic>
        <p:nvPicPr>
          <p:cNvPr id="205" name="Google Shape;20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6" name="Google Shape;206;p21" descr="image.png"/>
          <p:cNvPicPr preferRelativeResize="0"/>
          <p:nvPr/>
        </p:nvPicPr>
        <p:blipFill rotWithShape="1">
          <a:blip r:embed="rId4">
            <a:alphaModFix/>
          </a:blip>
          <a:srcRect/>
          <a:stretch/>
        </p:blipFill>
        <p:spPr>
          <a:xfrm>
            <a:off x="571500" y="2309812"/>
            <a:ext cx="3492549" cy="3352800"/>
          </a:xfrm>
          <a:prstGeom prst="rect">
            <a:avLst/>
          </a:prstGeom>
          <a:noFill/>
          <a:ln>
            <a:noFill/>
          </a:ln>
        </p:spPr>
      </p:pic>
      <p:pic>
        <p:nvPicPr>
          <p:cNvPr id="207" name="Google Shape;207;p21" descr="image.png"/>
          <p:cNvPicPr preferRelativeResize="0"/>
          <p:nvPr/>
        </p:nvPicPr>
        <p:blipFill rotWithShape="1">
          <a:blip r:embed="rId5">
            <a:alphaModFix/>
          </a:blip>
          <a:srcRect/>
          <a:stretch/>
        </p:blipFill>
        <p:spPr>
          <a:xfrm>
            <a:off x="4349799" y="2309812"/>
            <a:ext cx="3492549" cy="3352800"/>
          </a:xfrm>
          <a:prstGeom prst="rect">
            <a:avLst/>
          </a:prstGeom>
          <a:noFill/>
          <a:ln>
            <a:noFill/>
          </a:ln>
        </p:spPr>
      </p:pic>
      <p:pic>
        <p:nvPicPr>
          <p:cNvPr id="208" name="Google Shape;208;p21" descr="image.png"/>
          <p:cNvPicPr preferRelativeResize="0"/>
          <p:nvPr/>
        </p:nvPicPr>
        <p:blipFill rotWithShape="1">
          <a:blip r:embed="rId6">
            <a:alphaModFix/>
          </a:blip>
          <a:srcRect/>
          <a:stretch/>
        </p:blipFill>
        <p:spPr>
          <a:xfrm>
            <a:off x="8128099" y="2309812"/>
            <a:ext cx="3492549" cy="3352800"/>
          </a:xfrm>
          <a:prstGeom prst="rect">
            <a:avLst/>
          </a:prstGeom>
          <a:noFill/>
          <a:ln>
            <a:noFill/>
          </a:ln>
        </p:spPr>
      </p:pic>
      <p:sp>
        <p:nvSpPr>
          <p:cNvPr id="209" name="Google Shape;209;p21"/>
          <p:cNvSpPr txBox="1"/>
          <p:nvPr/>
        </p:nvSpPr>
        <p:spPr>
          <a:xfrm>
            <a:off x="571500" y="571500"/>
            <a:ext cx="11601450" cy="590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E3A8A"/>
                </a:solidFill>
                <a:latin typeface="Merriweather"/>
                <a:ea typeface="Merriweather"/>
                <a:cs typeface="Merriweather"/>
                <a:sym typeface="Merriweather"/>
              </a:rPr>
              <a:t>Conclusion: Lived Experience &amp; Power</a:t>
            </a:r>
            <a:endParaRPr/>
          </a:p>
        </p:txBody>
      </p:sp>
      <p:sp>
        <p:nvSpPr>
          <p:cNvPr id="210" name="Google Shape;210;p21"/>
          <p:cNvSpPr/>
          <p:nvPr/>
        </p:nvSpPr>
        <p:spPr>
          <a:xfrm>
            <a:off x="571500" y="1285875"/>
            <a:ext cx="11049000" cy="19050"/>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1" name="Google Shape;211;p21" descr="image.png"/>
          <p:cNvPicPr preferRelativeResize="0"/>
          <p:nvPr/>
        </p:nvPicPr>
        <p:blipFill rotWithShape="1">
          <a:blip r:embed="rId7">
            <a:alphaModFix/>
          </a:blip>
          <a:srcRect/>
          <a:stretch/>
        </p:blipFill>
        <p:spPr>
          <a:xfrm>
            <a:off x="1936700" y="2605087"/>
            <a:ext cx="762000" cy="762000"/>
          </a:xfrm>
          <a:prstGeom prst="rect">
            <a:avLst/>
          </a:prstGeom>
          <a:noFill/>
          <a:ln>
            <a:noFill/>
          </a:ln>
        </p:spPr>
      </p:pic>
      <p:sp>
        <p:nvSpPr>
          <p:cNvPr id="212" name="Google Shape;212;p21"/>
          <p:cNvSpPr txBox="1"/>
          <p:nvPr/>
        </p:nvSpPr>
        <p:spPr>
          <a:xfrm>
            <a:off x="1262568" y="3557587"/>
            <a:ext cx="2110263"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Societal Mirror</a:t>
            </a:r>
            <a:endParaRPr/>
          </a:p>
        </p:txBody>
      </p:sp>
      <p:sp>
        <p:nvSpPr>
          <p:cNvPr id="213" name="Google Shape;213;p21"/>
          <p:cNvSpPr txBox="1"/>
          <p:nvPr/>
        </p:nvSpPr>
        <p:spPr>
          <a:xfrm>
            <a:off x="866775" y="4233862"/>
            <a:ext cx="2901999"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It reflects the life, norms, and values of a specific historical moment.</a:t>
            </a:r>
            <a:endParaRPr/>
          </a:p>
        </p:txBody>
      </p:sp>
      <p:pic>
        <p:nvPicPr>
          <p:cNvPr id="214" name="Google Shape;214;p21" descr="image.png"/>
          <p:cNvPicPr preferRelativeResize="0"/>
          <p:nvPr/>
        </p:nvPicPr>
        <p:blipFill rotWithShape="1">
          <a:blip r:embed="rId8">
            <a:alphaModFix/>
          </a:blip>
          <a:srcRect/>
          <a:stretch/>
        </p:blipFill>
        <p:spPr>
          <a:xfrm>
            <a:off x="5715000" y="2605087"/>
            <a:ext cx="762000" cy="762000"/>
          </a:xfrm>
          <a:prstGeom prst="rect">
            <a:avLst/>
          </a:prstGeom>
          <a:noFill/>
          <a:ln>
            <a:noFill/>
          </a:ln>
        </p:spPr>
      </p:pic>
      <p:sp>
        <p:nvSpPr>
          <p:cNvPr id="215" name="Google Shape;215;p21"/>
          <p:cNvSpPr txBox="1"/>
          <p:nvPr/>
        </p:nvSpPr>
        <p:spPr>
          <a:xfrm>
            <a:off x="5110876" y="3557587"/>
            <a:ext cx="1970246"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Social Change</a:t>
            </a:r>
            <a:endParaRPr/>
          </a:p>
        </p:txBody>
      </p:sp>
      <p:sp>
        <p:nvSpPr>
          <p:cNvPr id="216" name="Google Shape;216;p21"/>
          <p:cNvSpPr txBox="1"/>
          <p:nvPr/>
        </p:nvSpPr>
        <p:spPr>
          <a:xfrm>
            <a:off x="4645074" y="4233862"/>
            <a:ext cx="2901999"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Representation in media can "normalize" behaviors and shift public opinion.</a:t>
            </a:r>
            <a:endParaRPr/>
          </a:p>
        </p:txBody>
      </p:sp>
      <p:pic>
        <p:nvPicPr>
          <p:cNvPr id="217" name="Google Shape;217;p21" descr="image.png"/>
          <p:cNvPicPr preferRelativeResize="0"/>
          <p:nvPr/>
        </p:nvPicPr>
        <p:blipFill rotWithShape="1">
          <a:blip r:embed="rId9">
            <a:alphaModFix/>
          </a:blip>
          <a:srcRect/>
          <a:stretch/>
        </p:blipFill>
        <p:spPr>
          <a:xfrm>
            <a:off x="9493299" y="2605087"/>
            <a:ext cx="762000" cy="762000"/>
          </a:xfrm>
          <a:prstGeom prst="rect">
            <a:avLst/>
          </a:prstGeom>
          <a:noFill/>
          <a:ln>
            <a:noFill/>
          </a:ln>
        </p:spPr>
      </p:pic>
      <p:sp>
        <p:nvSpPr>
          <p:cNvPr id="218" name="Google Shape;218;p21"/>
          <p:cNvSpPr txBox="1"/>
          <p:nvPr/>
        </p:nvSpPr>
        <p:spPr>
          <a:xfrm>
            <a:off x="8894177" y="3557587"/>
            <a:ext cx="1960245" cy="342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1E40AF"/>
                </a:solidFill>
                <a:latin typeface="Merriweather"/>
                <a:ea typeface="Merriweather"/>
                <a:cs typeface="Merriweather"/>
                <a:sym typeface="Merriweather"/>
              </a:rPr>
              <a:t>Social Control</a:t>
            </a:r>
            <a:endParaRPr/>
          </a:p>
        </p:txBody>
      </p:sp>
      <p:sp>
        <p:nvSpPr>
          <p:cNvPr id="219" name="Google Shape;219;p21"/>
          <p:cNvSpPr txBox="1"/>
          <p:nvPr/>
        </p:nvSpPr>
        <p:spPr>
          <a:xfrm>
            <a:off x="8423374" y="4233862"/>
            <a:ext cx="2901999"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74151"/>
                </a:solidFill>
                <a:latin typeface="DM Sans"/>
                <a:ea typeface="DM Sans"/>
                <a:cs typeface="DM Sans"/>
                <a:sym typeface="DM Sans"/>
              </a:rPr>
              <a:t>It can also serve to reinforce stereotypes and hegemonic structures.</a:t>
            </a:r>
            <a:endParaRPr/>
          </a:p>
        </p:txBody>
      </p:sp>
      <p:pic>
        <p:nvPicPr>
          <p:cNvPr id="220" name="Google Shape;220;p21" descr="image.png"/>
          <p:cNvPicPr preferRelativeResize="0"/>
          <p:nvPr/>
        </p:nvPicPr>
        <p:blipFill rotWithShape="1">
          <a:blip r:embed="rId10">
            <a:alphaModFix/>
          </a:blip>
          <a:srcRect/>
          <a:stretch/>
        </p:blipFill>
        <p:spPr>
          <a:xfrm>
            <a:off x="2103387" y="2795587"/>
            <a:ext cx="428625" cy="381000"/>
          </a:xfrm>
          <a:prstGeom prst="rect">
            <a:avLst/>
          </a:prstGeom>
          <a:noFill/>
          <a:ln>
            <a:noFill/>
          </a:ln>
        </p:spPr>
      </p:pic>
      <p:pic>
        <p:nvPicPr>
          <p:cNvPr id="221" name="Google Shape;221;p21" descr="image.png"/>
          <p:cNvPicPr preferRelativeResize="0"/>
          <p:nvPr/>
        </p:nvPicPr>
        <p:blipFill rotWithShape="1">
          <a:blip r:embed="rId11">
            <a:alphaModFix/>
          </a:blip>
          <a:srcRect/>
          <a:stretch/>
        </p:blipFill>
        <p:spPr>
          <a:xfrm>
            <a:off x="5857875" y="2795587"/>
            <a:ext cx="476250" cy="381000"/>
          </a:xfrm>
          <a:prstGeom prst="rect">
            <a:avLst/>
          </a:prstGeom>
          <a:noFill/>
          <a:ln>
            <a:noFill/>
          </a:ln>
        </p:spPr>
      </p:pic>
      <p:pic>
        <p:nvPicPr>
          <p:cNvPr id="222" name="Google Shape;222;p21" descr="image.png"/>
          <p:cNvPicPr preferRelativeResize="0"/>
          <p:nvPr/>
        </p:nvPicPr>
        <p:blipFill rotWithShape="1">
          <a:blip r:embed="rId12">
            <a:alphaModFix/>
          </a:blip>
          <a:srcRect/>
          <a:stretch/>
        </p:blipFill>
        <p:spPr>
          <a:xfrm>
            <a:off x="9636174" y="2795587"/>
            <a:ext cx="476250" cy="381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655</Words>
  <Application>Microsoft Macintosh PowerPoint</Application>
  <PresentationFormat>Widescreen</PresentationFormat>
  <Paragraphs>56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Merriweather</vt:lpstr>
      <vt:lpstr>DM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Sonal Jha</cp:lastModifiedBy>
  <cp:revision>3</cp:revision>
  <dcterms:modified xsi:type="dcterms:W3CDTF">2026-01-22T11:15:38Z</dcterms:modified>
</cp:coreProperties>
</file>