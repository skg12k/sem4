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Arimo" panose="020B0604020202020204" pitchFamily="34" charset="0"/>
      <p:regular r:id="rId8"/>
      <p:bold r:id="rId9"/>
      <p:italic r:id="rId10"/>
      <p:boldItalic r:id="rId11"/>
    </p:embeddedFont>
    <p:embeddedFont>
      <p:font typeface="Azeret Mono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795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71525" y="3424237"/>
            <a:ext cx="10648950" cy="9525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3424237"/>
            <a:ext cx="10648950" cy="9525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5313" y="1681460"/>
            <a:ext cx="10981372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Popular Fiction: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Genres, &amp; Politics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6775" y="3853160"/>
            <a:ext cx="10458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Sonal Jha, PhD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66775" y="4447430"/>
            <a:ext cx="10458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Department of Humanities and Social Sciences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6775" y="5041701"/>
            <a:ext cx="10458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IIT Roorkee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426368"/>
            <a:ext cx="5524500" cy="5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140743"/>
            <a:ext cx="552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64493"/>
            <a:ext cx="5524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381000" y="588168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What is popular fiction?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97993"/>
            <a:ext cx="5191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Popular Fiction: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Focuses on narrative momentum, tropes, and closure.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19125" y="4188618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It promises a specific emotional experience – fear in horror, justice in crime, or love in romance.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9125" y="4912518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It is not just "escapism"; it is a communal experience that reflects the anxieties and dreams of the general public.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19125" y="5636418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Not merely a ‘guilty pleasure’ but also a powerful cultural tool.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19124" y="6348411"/>
            <a:ext cx="5286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It is also known as </a:t>
            </a:r>
            <a:r>
              <a:rPr lang="en-US" sz="1500" b="1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genre fiction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4600" y="1702593"/>
            <a:ext cx="54483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664493"/>
            <a:ext cx="5524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81000" y="776287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What is genre?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19125" y="2140743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It refers to categories such as horror, romance, science fiction etc. into which popular fiction is slotted. For example, </a:t>
            </a:r>
            <a:r>
              <a:rPr lang="en-US" sz="1500" b="0" i="1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Dune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is science fiction.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619125" y="3169443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Novels can fall into overlapping genres as well. For example, the </a:t>
            </a:r>
            <a:r>
              <a:rPr lang="en-US" sz="1500" b="0" i="1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Twilight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novels can be classified as both romance and fantasy.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19125" y="4198143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Every genre represents a "contract" between writer and reader</a:t>
            </a:r>
            <a:r>
              <a:rPr lang="en-US" sz="15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based on pre-set expectations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19125" y="4922043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Tropes and character types are used to drive forward the plot. For example, a superhero </a:t>
            </a:r>
            <a:r>
              <a:rPr lang="en-US" sz="1500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comic has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The Superhero, The Villain, The Sidekick, The Love Interest etc.</a:t>
            </a:r>
            <a:endParaRPr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1702593"/>
            <a:ext cx="54483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381000" y="776287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The politics of popular fiction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19125" y="2083593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Popular fiction as ‘just entertainment’ is a myth. Every work represents the norms and values of its time.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19125" y="2807493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For example, romance novels have traditionally shaped our ideas of love, masculinity and femininity.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19125" y="3531393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How does this shape beauty standards and gender roles?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19125" y="3950493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Who or what gets excluded from these narratives is also noteworthy. E.g. traditionally, all romance fiction focused on heterosexual, white/western couples.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19125" y="4979193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The popularity of Mills and Boon novels in India – what is the implication of young Indians developing an understanding of love through these books?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607343"/>
            <a:ext cx="54483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D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038850"/>
            <a:ext cx="114300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14487"/>
            <a:ext cx="2714625" cy="423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6125" y="1614487"/>
            <a:ext cx="2714625" cy="423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614487"/>
            <a:ext cx="2714625" cy="423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6375" y="1614487"/>
            <a:ext cx="2714625" cy="423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381000" y="776287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An example: ‘The Monster’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33400" y="3814762"/>
            <a:ext cx="253031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Invader (19th c.)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33400" y="4243387"/>
            <a:ext cx="2409825" cy="131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Dracula:</a:t>
            </a:r>
            <a:r>
              <a:rPr lang="en-US" sz="1050" b="0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Fear of the foreigner/ the ‘other’ in the context of British colonialism. Fear of foreign contagion (through blood) – racism and xenophobia.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438525" y="3814762"/>
            <a:ext cx="253031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Mutant (1950s)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438525" y="4243387"/>
            <a:ext cx="2409825" cy="131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Godzilla:</a:t>
            </a:r>
            <a:r>
              <a:rPr lang="en-US" sz="1050" b="0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Fear of failure of science in the context of world war II and the atomic bomb.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43650" y="3814762"/>
            <a:ext cx="253031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Punisher (1980s)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43650" y="4243387"/>
            <a:ext cx="2409825" cy="131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Freddy Kruger:</a:t>
            </a:r>
            <a:r>
              <a:rPr lang="en-US" sz="1050" b="0" i="0" u="none" strike="noStrike" cap="none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Fear of loss of traditional values with increasing sexual permissively in the context of the Regan era.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248775" y="3814762"/>
            <a:ext cx="253031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45309"/>
                </a:solidFill>
                <a:latin typeface="Arimo"/>
                <a:ea typeface="Arimo"/>
                <a:cs typeface="Arimo"/>
                <a:sym typeface="Arimo"/>
              </a:rPr>
              <a:t>Tragic Figure (2000s)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248775" y="4243387"/>
            <a:ext cx="2409825" cy="131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Twilight, Dracula (2025):</a:t>
            </a:r>
            <a:r>
              <a:rPr lang="en-US" sz="1050" b="0" i="0" u="none" strike="noStrike" cap="none" dirty="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Fear of loneliness and difference in the context of increasing alienation in modern society.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1766887"/>
            <a:ext cx="24098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8525" y="1766887"/>
            <a:ext cx="24098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43650" y="1766887"/>
            <a:ext cx="24098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48775" y="1766887"/>
            <a:ext cx="240982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450</Words>
  <Application>Microsoft Macintosh PowerPoint</Application>
  <PresentationFormat>Widescreen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Arimo</vt:lpstr>
      <vt:lpstr>Arial</vt:lpstr>
      <vt:lpstr>Azeret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Sonal Jha</cp:lastModifiedBy>
  <cp:revision>2</cp:revision>
  <dcterms:modified xsi:type="dcterms:W3CDTF">2026-02-11T03:29:30Z</dcterms:modified>
</cp:coreProperties>
</file>