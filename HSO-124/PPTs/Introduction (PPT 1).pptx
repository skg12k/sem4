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Merriweather" pitchFamily="2" charset="77"/>
      <p:regular r:id="rId13"/>
      <p:bold r:id="rId14"/>
      <p:italic r:id="rId15"/>
      <p:boldItalic r:id="rId16"/>
    </p:embeddedFont>
    <p:embeddedFont>
      <p:font typeface="Open Sans" panose="020B0606030504020204" pitchFamily="34" charset="0"/>
      <p:regular r:id="rId17"/>
      <p:bold r:id="rId18"/>
      <p:italic r:id="rId19"/>
      <p:boldItalic r:id="rId20"/>
    </p:embeddedFont>
    <p:embeddedFont>
      <p:font typeface="Open Sans SemiBold" panose="020F0502020204030204" pitchFamily="3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748CB9E-2243-4699-9DAD-2796519898C3}">
  <a:tblStyle styleId="{F748CB9E-2243-4699-9DAD-2796519898C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263"/>
    <p:restoredTop sz="94624"/>
  </p:normalViewPr>
  <p:slideViewPr>
    <p:cSldViewPr snapToGrid="0">
      <p:cViewPr varScale="1">
        <p:scale>
          <a:sx n="111" d="100"/>
          <a:sy n="111" d="100"/>
        </p:scale>
        <p:origin x="400" y="20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3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8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3615689" y="1991766"/>
            <a:ext cx="4960620" cy="146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Introduction to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800" b="1" i="0" u="none" strike="noStrike" cap="non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 Popular Culture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190875" y="4064347"/>
            <a:ext cx="5810250" cy="96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>
                <a:solidFill>
                  <a:srgbClr val="E5E7EB"/>
                </a:solidFill>
                <a:latin typeface="Open Sans"/>
                <a:ea typeface="Open Sans"/>
                <a:cs typeface="Open Sans"/>
                <a:sym typeface="Open Sans"/>
              </a:rPr>
              <a:t>Sonal Jha</a:t>
            </a:r>
            <a:r>
              <a:rPr lang="en-US" sz="1950" dirty="0">
                <a:solidFill>
                  <a:srgbClr val="E5E7EB"/>
                </a:solidFill>
                <a:latin typeface="Open Sans"/>
                <a:ea typeface="Open Sans"/>
                <a:cs typeface="Open Sans"/>
                <a:sym typeface="Open Sans"/>
              </a:rPr>
              <a:t>, PhD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950" b="0" i="0" u="none" strike="noStrike" cap="none" dirty="0">
                <a:solidFill>
                  <a:srgbClr val="E5E7EB"/>
                </a:solidFill>
                <a:latin typeface="Open Sans"/>
                <a:ea typeface="Open Sans"/>
                <a:cs typeface="Open Sans"/>
                <a:sym typeface="Open Sans"/>
              </a:rPr>
              <a:t> Department of Humanities and Social Sciences</a:t>
            </a:r>
            <a:endParaRPr dirty="0"/>
          </a:p>
        </p:txBody>
      </p:sp>
      <p:sp>
        <p:nvSpPr>
          <p:cNvPr id="88" name="Google Shape;88;p13"/>
          <p:cNvSpPr/>
          <p:nvPr/>
        </p:nvSpPr>
        <p:spPr>
          <a:xfrm>
            <a:off x="3190875" y="3873847"/>
            <a:ext cx="58102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8813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762000" y="571500"/>
            <a:ext cx="11201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Defining Popular Culture</a:t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762000" y="1285875"/>
            <a:ext cx="10668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762000" y="1835485"/>
            <a:ext cx="5048250" cy="1340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Popular culture refers to </a:t>
            </a:r>
            <a:r>
              <a:rPr lang="en-US" sz="1650" b="0" i="0" u="none" strike="noStrike" cap="none" dirty="0">
                <a:solidFill>
                  <a:srgbClr val="1E3A8A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cultural products and trends</a:t>
            </a:r>
            <a:r>
              <a:rPr lang="en-US" sz="1650" b="0" i="0" u="none" strike="noStrike" cap="none" dirty="0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 that are widely favored or encountered by many people. It is characterized by mass production and mass consumption.</a:t>
            </a:r>
            <a:endParaRPr dirty="0"/>
          </a:p>
        </p:txBody>
      </p:sp>
      <p:sp>
        <p:nvSpPr>
          <p:cNvPr id="100" name="Google Shape;100;p14"/>
          <p:cNvSpPr txBox="1"/>
          <p:nvPr/>
        </p:nvSpPr>
        <p:spPr>
          <a:xfrm>
            <a:off x="914400" y="3529072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990600" y="3528119"/>
            <a:ext cx="48196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It stands in contrast to "elite" or "high" culture.</a:t>
            </a:r>
            <a:endParaRPr dirty="0"/>
          </a:p>
        </p:txBody>
      </p:sp>
      <p:sp>
        <p:nvSpPr>
          <p:cNvPr id="102" name="Google Shape;102;p14"/>
          <p:cNvSpPr txBox="1"/>
          <p:nvPr/>
        </p:nvSpPr>
        <p:spPr>
          <a:xfrm>
            <a:off x="914400" y="3978532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990600" y="3977580"/>
            <a:ext cx="48196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Scope includes music, film, television, fashion, cyberculture, literature, and sports.</a:t>
            </a:r>
            <a:endParaRPr dirty="0"/>
          </a:p>
        </p:txBody>
      </p:sp>
      <p:sp>
        <p:nvSpPr>
          <p:cNvPr id="104" name="Google Shape;104;p14"/>
          <p:cNvSpPr txBox="1"/>
          <p:nvPr/>
        </p:nvSpPr>
        <p:spPr>
          <a:xfrm>
            <a:off x="914400" y="4763154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990600" y="4762202"/>
            <a:ext cx="48196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It frequently defines the shared historical and social experiences of a generation.</a:t>
            </a:r>
            <a:endParaRPr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EC21B9B-544D-0AC0-6A60-CD77525DD5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6450" y="2014388"/>
            <a:ext cx="5945302" cy="3362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026890"/>
            <a:ext cx="3365450" cy="209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13200" y="2026890"/>
            <a:ext cx="3365450" cy="209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2026890"/>
            <a:ext cx="3365599" cy="2095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8813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762000" y="571500"/>
            <a:ext cx="11201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The Three Cultural Spheres</a:t>
            </a:r>
            <a:endParaRPr/>
          </a:p>
        </p:txBody>
      </p:sp>
      <p:sp>
        <p:nvSpPr>
          <p:cNvPr id="116" name="Google Shape;116;p15"/>
          <p:cNvSpPr/>
          <p:nvPr/>
        </p:nvSpPr>
        <p:spPr>
          <a:xfrm>
            <a:off x="762000" y="1285875"/>
            <a:ext cx="10668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677863" y="4360515"/>
            <a:ext cx="3533722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881337"/>
                </a:solidFill>
                <a:latin typeface="Merriweather"/>
                <a:ea typeface="Merriweather"/>
                <a:cs typeface="Merriweather"/>
                <a:sym typeface="Merriweather"/>
              </a:rPr>
              <a:t>Folk Culture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762000" y="4884390"/>
            <a:ext cx="336545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4B5563"/>
                </a:solidFill>
                <a:latin typeface="Open Sans"/>
                <a:ea typeface="Open Sans"/>
                <a:cs typeface="Open Sans"/>
                <a:sym typeface="Open Sans"/>
              </a:rPr>
              <a:t>Traditional, localized, and pre-industrial (e.g., Folk dances, folk tales, festivals</a:t>
            </a:r>
            <a:r>
              <a:rPr lang="en-US" sz="1350" dirty="0">
                <a:solidFill>
                  <a:srgbClr val="4B5563"/>
                </a:solidFill>
                <a:latin typeface="Open Sans"/>
                <a:ea typeface="Open Sans"/>
                <a:cs typeface="Open Sans"/>
                <a:sym typeface="Open Sans"/>
              </a:rPr>
              <a:t> etc.</a:t>
            </a:r>
            <a:r>
              <a:rPr lang="en-US" sz="1350" b="0" i="0" u="none" strike="noStrike" cap="none" dirty="0">
                <a:solidFill>
                  <a:srgbClr val="4B5563"/>
                </a:solidFill>
                <a:latin typeface="Open Sans"/>
                <a:ea typeface="Open Sans"/>
                <a:cs typeface="Open Sans"/>
                <a:sym typeface="Open Sans"/>
              </a:rPr>
              <a:t>).</a:t>
            </a:r>
            <a:endParaRPr dirty="0"/>
          </a:p>
        </p:txBody>
      </p:sp>
      <p:sp>
        <p:nvSpPr>
          <p:cNvPr id="119" name="Google Shape;119;p15"/>
          <p:cNvSpPr txBox="1"/>
          <p:nvPr/>
        </p:nvSpPr>
        <p:spPr>
          <a:xfrm>
            <a:off x="4329064" y="4360515"/>
            <a:ext cx="3533722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881337"/>
                </a:solidFill>
                <a:latin typeface="Merriweather"/>
                <a:ea typeface="Merriweather"/>
                <a:cs typeface="Merriweather"/>
                <a:sym typeface="Merriweather"/>
              </a:rPr>
              <a:t>High Culture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4413200" y="4884390"/>
            <a:ext cx="3365450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4B5563"/>
                </a:solidFill>
                <a:latin typeface="Open Sans"/>
                <a:ea typeface="Open Sans"/>
                <a:cs typeface="Open Sans"/>
                <a:sym typeface="Open Sans"/>
              </a:rPr>
              <a:t>Elite, often expensive or restricted access (e.g., </a:t>
            </a:r>
            <a:r>
              <a:rPr lang="en-US" sz="1350" dirty="0">
                <a:solidFill>
                  <a:srgbClr val="4B5563"/>
                </a:solidFill>
                <a:latin typeface="Open Sans"/>
                <a:ea typeface="Open Sans"/>
                <a:cs typeface="Open Sans"/>
                <a:sym typeface="Open Sans"/>
              </a:rPr>
              <a:t>Classical literature</a:t>
            </a:r>
            <a:r>
              <a:rPr lang="en-US" sz="1350" b="0" i="0" u="none" strike="noStrike" cap="none" dirty="0">
                <a:solidFill>
                  <a:srgbClr val="4B5563"/>
                </a:solidFill>
                <a:latin typeface="Open Sans"/>
                <a:ea typeface="Open Sans"/>
                <a:cs typeface="Open Sans"/>
                <a:sym typeface="Open Sans"/>
              </a:rPr>
              <a:t>, Ballet, </a:t>
            </a:r>
            <a:r>
              <a:rPr lang="en-US" sz="1350" dirty="0">
                <a:solidFill>
                  <a:srgbClr val="4B5563"/>
                </a:solidFill>
                <a:latin typeface="Open Sans"/>
                <a:ea typeface="Open Sans"/>
                <a:cs typeface="Open Sans"/>
                <a:sym typeface="Open Sans"/>
              </a:rPr>
              <a:t>Renaissance</a:t>
            </a:r>
            <a:r>
              <a:rPr lang="en-US" sz="1350" b="0" i="0" u="none" strike="noStrike" cap="none" dirty="0">
                <a:solidFill>
                  <a:srgbClr val="4B5563"/>
                </a:solidFill>
                <a:latin typeface="Open Sans"/>
                <a:ea typeface="Open Sans"/>
                <a:cs typeface="Open Sans"/>
                <a:sym typeface="Open Sans"/>
              </a:rPr>
              <a:t> Art).</a:t>
            </a:r>
            <a:endParaRPr dirty="0"/>
          </a:p>
        </p:txBody>
      </p:sp>
      <p:sp>
        <p:nvSpPr>
          <p:cNvPr id="121" name="Google Shape;121;p15"/>
          <p:cNvSpPr txBox="1"/>
          <p:nvPr/>
        </p:nvSpPr>
        <p:spPr>
          <a:xfrm>
            <a:off x="7980260" y="4360515"/>
            <a:ext cx="3533879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881337"/>
                </a:solidFill>
                <a:latin typeface="Merriweather"/>
                <a:ea typeface="Merriweather"/>
                <a:cs typeface="Merriweather"/>
                <a:sym typeface="Merriweather"/>
              </a:rPr>
              <a:t>Popular Culture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8064400" y="4884390"/>
            <a:ext cx="3365599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4B5563"/>
                </a:solidFill>
                <a:latin typeface="Open Sans"/>
                <a:ea typeface="Open Sans"/>
                <a:cs typeface="Open Sans"/>
                <a:sym typeface="Open Sans"/>
              </a:rPr>
              <a:t>Mass-produced, commercial, and accessible to everyone (e.g., </a:t>
            </a:r>
            <a:r>
              <a:rPr lang="en-US" sz="1350" dirty="0">
                <a:solidFill>
                  <a:srgbClr val="4B5563"/>
                </a:solidFill>
                <a:latin typeface="Open Sans"/>
                <a:ea typeface="Open Sans"/>
                <a:cs typeface="Open Sans"/>
                <a:sym typeface="Open Sans"/>
              </a:rPr>
              <a:t>Marvel</a:t>
            </a:r>
            <a:r>
              <a:rPr lang="en-US" sz="1350" b="0" i="0" u="none" strike="noStrike" cap="none" dirty="0">
                <a:solidFill>
                  <a:srgbClr val="4B5563"/>
                </a:solidFill>
                <a:latin typeface="Open Sans"/>
                <a:ea typeface="Open Sans"/>
                <a:cs typeface="Open Sans"/>
                <a:sym typeface="Open Sans"/>
              </a:rPr>
              <a:t> films).</a:t>
            </a:r>
            <a:endParaRPr dirty="0"/>
          </a:p>
        </p:txBody>
      </p:sp>
      <p:pic>
        <p:nvPicPr>
          <p:cNvPr id="123" name="Google Shape;123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47725" y="2112615"/>
            <a:ext cx="3194000" cy="192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498925" y="2112615"/>
            <a:ext cx="3194000" cy="192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150125" y="2112615"/>
            <a:ext cx="3194149" cy="192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8813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 txBox="1"/>
          <p:nvPr/>
        </p:nvSpPr>
        <p:spPr>
          <a:xfrm>
            <a:off x="762000" y="571500"/>
            <a:ext cx="11201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Comparative Analysis</a:t>
            </a:r>
            <a:endParaRPr/>
          </a:p>
        </p:txBody>
      </p:sp>
      <p:sp>
        <p:nvSpPr>
          <p:cNvPr id="133" name="Google Shape;133;p16"/>
          <p:cNvSpPr/>
          <p:nvPr/>
        </p:nvSpPr>
        <p:spPr>
          <a:xfrm>
            <a:off x="762000" y="1285875"/>
            <a:ext cx="10668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4" name="Google Shape;134;p16"/>
          <p:cNvGraphicFramePr/>
          <p:nvPr/>
        </p:nvGraphicFramePr>
        <p:xfrm>
          <a:off x="762000" y="1985069"/>
          <a:ext cx="10658475" cy="3764100"/>
        </p:xfrm>
        <a:graphic>
          <a:graphicData uri="http://schemas.openxmlformats.org/drawingml/2006/table">
            <a:tbl>
              <a:tblPr firstRow="1" bandRow="1">
                <a:noFill/>
                <a:tableStyleId>{F748CB9E-2243-4699-9DAD-2796519898C3}</a:tableStyleId>
              </a:tblPr>
              <a:tblGrid>
                <a:gridCol w="2131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3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7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1E3A8A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Feature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1E3A8A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High Culture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1E3A8A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Popular Culture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7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7415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Creator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7415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Individual "Genius" or Auteur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7415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Teams, Corporations, or Industries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7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7415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Audience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7415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Small, elite, specific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7415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Large, diverse, general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7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7415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Value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7415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Timeless, eternal ("The Classics")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7415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Trendy, transient ("Flavor of the month")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7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7415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Purpose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7415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Art for art's sake; intellectual growth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7415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Profit and entertainment; escapism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7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7415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Consumption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7415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Focused attention (silence in a museum)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7415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Casual consumption (background noise)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5" name="Google Shape;135;p16"/>
          <p:cNvSpPr/>
          <p:nvPr/>
        </p:nvSpPr>
        <p:spPr>
          <a:xfrm>
            <a:off x="766762" y="2625030"/>
            <a:ext cx="2131665" cy="1905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/>
          <p:nvPr/>
        </p:nvSpPr>
        <p:spPr>
          <a:xfrm>
            <a:off x="2898427" y="2625030"/>
            <a:ext cx="4263330" cy="1905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7161758" y="2625030"/>
            <a:ext cx="4263479" cy="1905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766762" y="3258442"/>
            <a:ext cx="213166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2898427" y="3258442"/>
            <a:ext cx="426333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7161758" y="3258442"/>
            <a:ext cx="4263479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766762" y="3877567"/>
            <a:ext cx="213166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2898427" y="3877567"/>
            <a:ext cx="426333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7161758" y="3877567"/>
            <a:ext cx="4263479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766762" y="4496692"/>
            <a:ext cx="213166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2898427" y="4496692"/>
            <a:ext cx="426333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7161758" y="4496692"/>
            <a:ext cx="4263479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/>
          <p:nvPr/>
        </p:nvSpPr>
        <p:spPr>
          <a:xfrm>
            <a:off x="766762" y="5115817"/>
            <a:ext cx="213166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/>
          <p:nvPr/>
        </p:nvSpPr>
        <p:spPr>
          <a:xfrm>
            <a:off x="2898427" y="5115817"/>
            <a:ext cx="426333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6"/>
          <p:cNvSpPr/>
          <p:nvPr/>
        </p:nvSpPr>
        <p:spPr>
          <a:xfrm>
            <a:off x="7161758" y="5115817"/>
            <a:ext cx="4263479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665065"/>
            <a:ext cx="3365450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13200" y="2665065"/>
            <a:ext cx="3365450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2665065"/>
            <a:ext cx="3365599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7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8813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 txBox="1"/>
          <p:nvPr/>
        </p:nvSpPr>
        <p:spPr>
          <a:xfrm>
            <a:off x="762000" y="571500"/>
            <a:ext cx="11201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Blurring the Boundaries</a:t>
            </a:r>
            <a:endParaRPr/>
          </a:p>
        </p:txBody>
      </p:sp>
      <p:sp>
        <p:nvSpPr>
          <p:cNvPr id="160" name="Google Shape;160;p17"/>
          <p:cNvSpPr/>
          <p:nvPr/>
        </p:nvSpPr>
        <p:spPr>
          <a:xfrm>
            <a:off x="762000" y="1285875"/>
            <a:ext cx="10668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7"/>
          <p:cNvSpPr txBox="1"/>
          <p:nvPr/>
        </p:nvSpPr>
        <p:spPr>
          <a:xfrm>
            <a:off x="762000" y="2044154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In the 21st century, the distinction between High and Pop culture is increasingly permeable.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677863" y="4617690"/>
            <a:ext cx="3533722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881337"/>
                </a:solidFill>
                <a:latin typeface="Merriweather"/>
                <a:ea typeface="Merriweather"/>
                <a:cs typeface="Merriweather"/>
                <a:sym typeface="Merriweather"/>
              </a:rPr>
              <a:t>Hamilton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762000" y="5141565"/>
            <a:ext cx="33654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B5563"/>
                </a:solidFill>
                <a:latin typeface="Open Sans"/>
                <a:ea typeface="Open Sans"/>
                <a:cs typeface="Open Sans"/>
                <a:sym typeface="Open Sans"/>
              </a:rPr>
              <a:t>Utilizes Hip Hop (Pop) to narrate history in a Broadway setting (High).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4329064" y="4617690"/>
            <a:ext cx="3533722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881337"/>
                </a:solidFill>
                <a:latin typeface="Merriweather"/>
                <a:ea typeface="Merriweather"/>
                <a:cs typeface="Merriweather"/>
                <a:sym typeface="Merriweather"/>
              </a:rPr>
              <a:t>Banksy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4413200" y="5141565"/>
            <a:ext cx="33654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B5563"/>
                </a:solidFill>
                <a:latin typeface="Open Sans"/>
                <a:ea typeface="Open Sans"/>
                <a:cs typeface="Open Sans"/>
                <a:sym typeface="Open Sans"/>
              </a:rPr>
              <a:t>Graffiti, once vandalism (Low), now sells at elite auctions (High).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7980260" y="4617690"/>
            <a:ext cx="3533879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881337"/>
                </a:solidFill>
                <a:latin typeface="Merriweather"/>
                <a:ea typeface="Merriweather"/>
                <a:cs typeface="Merriweather"/>
                <a:sym typeface="Merriweather"/>
              </a:rPr>
              <a:t>Video Games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8064400" y="5141565"/>
            <a:ext cx="3365599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B5563"/>
                </a:solidFill>
                <a:latin typeface="Open Sans"/>
                <a:ea typeface="Open Sans"/>
                <a:cs typeface="Open Sans"/>
                <a:sym typeface="Open Sans"/>
              </a:rPr>
              <a:t>Narratives like </a:t>
            </a:r>
            <a:r>
              <a:rPr lang="en-US" sz="1350" b="0" i="1" u="none" strike="noStrike" cap="none">
                <a:solidFill>
                  <a:srgbClr val="4B5563"/>
                </a:solidFill>
                <a:latin typeface="Open Sans"/>
                <a:ea typeface="Open Sans"/>
                <a:cs typeface="Open Sans"/>
                <a:sym typeface="Open Sans"/>
              </a:rPr>
              <a:t>The Last of Us</a:t>
            </a:r>
            <a:r>
              <a:rPr lang="en-US" sz="1350" b="0" i="0" u="none" strike="noStrike" cap="none">
                <a:solidFill>
                  <a:srgbClr val="4B5563"/>
                </a:solidFill>
                <a:latin typeface="Open Sans"/>
                <a:ea typeface="Open Sans"/>
                <a:cs typeface="Open Sans"/>
                <a:sym typeface="Open Sans"/>
              </a:rPr>
              <a:t> receive literary-grade critical analysis.</a:t>
            </a:r>
            <a:endParaRPr/>
          </a:p>
        </p:txBody>
      </p:sp>
      <p:pic>
        <p:nvPicPr>
          <p:cNvPr id="168" name="Google Shape;168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47725" y="2750790"/>
            <a:ext cx="3194000" cy="154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498925" y="2750790"/>
            <a:ext cx="3194000" cy="154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150125" y="2750790"/>
            <a:ext cx="3194149" cy="154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962150"/>
            <a:ext cx="50482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8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8813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8"/>
          <p:cNvSpPr txBox="1"/>
          <p:nvPr/>
        </p:nvSpPr>
        <p:spPr>
          <a:xfrm>
            <a:off x="762000" y="571500"/>
            <a:ext cx="11201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Key Characteristics</a:t>
            </a:r>
            <a:endParaRPr/>
          </a:p>
        </p:txBody>
      </p:sp>
      <p:sp>
        <p:nvSpPr>
          <p:cNvPr id="179" name="Google Shape;179;p18"/>
          <p:cNvSpPr/>
          <p:nvPr/>
        </p:nvSpPr>
        <p:spPr>
          <a:xfrm>
            <a:off x="762000" y="1285875"/>
            <a:ext cx="10668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0" name="Google Shape;180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67475" y="2047875"/>
            <a:ext cx="4876800" cy="363855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914400" y="2298858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990600" y="2297906"/>
            <a:ext cx="48196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E3A8A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Mass Media:</a:t>
            </a:r>
            <a:r>
              <a:rPr lang="en-US" sz="1650" b="0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 Disseminated through TV, internet, radio, and print.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914400" y="3083480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990600" y="3082528"/>
            <a:ext cx="48196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E3A8A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Commercialization:</a:t>
            </a:r>
            <a:r>
              <a:rPr lang="en-US" sz="1650" b="0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 Driven by profit, marketing, and merchandise.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914400" y="3868102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990600" y="3867150"/>
            <a:ext cx="48196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E3A8A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Standardization:</a:t>
            </a:r>
            <a:r>
              <a:rPr lang="en-US" sz="1650" b="0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 Formats are often repeatable and formulaic.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914400" y="4652724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990600" y="4651771"/>
            <a:ext cx="48196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E3A8A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Transience:</a:t>
            </a:r>
            <a:r>
              <a:rPr lang="en-US" sz="1650" b="0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 Trends change rapidly; popular today, gone tomorrow.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962150"/>
            <a:ext cx="50482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9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8813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9"/>
          <p:cNvSpPr txBox="1"/>
          <p:nvPr/>
        </p:nvSpPr>
        <p:spPr>
          <a:xfrm>
            <a:off x="762000" y="571500"/>
            <a:ext cx="11201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Mass Media &amp; Universal Appeal</a:t>
            </a:r>
            <a:endParaRPr/>
          </a:p>
        </p:txBody>
      </p:sp>
      <p:sp>
        <p:nvSpPr>
          <p:cNvPr id="197" name="Google Shape;197;p19"/>
          <p:cNvSpPr/>
          <p:nvPr/>
        </p:nvSpPr>
        <p:spPr>
          <a:xfrm>
            <a:off x="762000" y="1285875"/>
            <a:ext cx="10668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9"/>
          <p:cNvSpPr txBox="1"/>
          <p:nvPr/>
        </p:nvSpPr>
        <p:spPr>
          <a:xfrm>
            <a:off x="762000" y="1518764"/>
            <a:ext cx="5048250" cy="1625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Popular culture is inherently the culture of the majority, designed to capture the largest possible audience, appeals to the lowest common denominator.</a:t>
            </a:r>
            <a:endParaRPr dirty="0"/>
          </a:p>
        </p:txBody>
      </p:sp>
      <p:pic>
        <p:nvPicPr>
          <p:cNvPr id="199" name="Google Shape;199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67475" y="2047875"/>
            <a:ext cx="4876800" cy="363855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9"/>
          <p:cNvSpPr txBox="1"/>
          <p:nvPr/>
        </p:nvSpPr>
        <p:spPr>
          <a:xfrm>
            <a:off x="914400" y="3193911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990600" y="3192958"/>
            <a:ext cx="48196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E3A8A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Quantitative Success:</a:t>
            </a:r>
            <a:r>
              <a:rPr lang="en-US" sz="1650" b="0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 It relies on numbers; a film is defined as "pop culture" by its viewership.</a:t>
            </a:r>
            <a:endParaRPr/>
          </a:p>
        </p:txBody>
      </p:sp>
      <p:sp>
        <p:nvSpPr>
          <p:cNvPr id="202" name="Google Shape;202;p19"/>
          <p:cNvSpPr txBox="1"/>
          <p:nvPr/>
        </p:nvSpPr>
        <p:spPr>
          <a:xfrm>
            <a:off x="914400" y="3978532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203" name="Google Shape;203;p19"/>
          <p:cNvSpPr txBox="1"/>
          <p:nvPr/>
        </p:nvSpPr>
        <p:spPr>
          <a:xfrm>
            <a:off x="990600" y="3977580"/>
            <a:ext cx="48196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E3A8A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Universal Appeal:</a:t>
            </a:r>
            <a:r>
              <a:rPr lang="en-US" sz="1650" b="0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 To minimize alienation, it often avoids abstract complexity.</a:t>
            </a:r>
            <a:endParaRPr/>
          </a:p>
        </p:txBody>
      </p:sp>
      <p:sp>
        <p:nvSpPr>
          <p:cNvPr id="204" name="Google Shape;204;p19"/>
          <p:cNvSpPr txBox="1"/>
          <p:nvPr/>
        </p:nvSpPr>
        <p:spPr>
          <a:xfrm>
            <a:off x="914400" y="4763154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205" name="Google Shape;205;p19"/>
          <p:cNvSpPr txBox="1"/>
          <p:nvPr/>
        </p:nvSpPr>
        <p:spPr>
          <a:xfrm>
            <a:off x="990600" y="4762202"/>
            <a:ext cx="48196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E3A8A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Themes:</a:t>
            </a:r>
            <a:r>
              <a:rPr lang="en-US" sz="1650" b="0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 Focuses on universal tropes like love, heroism, and humor.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6096000" cy="6905625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0"/>
          <p:cNvSpPr txBox="1"/>
          <p:nvPr/>
        </p:nvSpPr>
        <p:spPr>
          <a:xfrm>
            <a:off x="762000" y="762000"/>
            <a:ext cx="48006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Commercialization</a:t>
            </a:r>
            <a:endParaRPr/>
          </a:p>
        </p:txBody>
      </p:sp>
      <p:sp>
        <p:nvSpPr>
          <p:cNvPr id="213" name="Google Shape;213;p20"/>
          <p:cNvSpPr/>
          <p:nvPr/>
        </p:nvSpPr>
        <p:spPr>
          <a:xfrm>
            <a:off x="762000" y="1476375"/>
            <a:ext cx="4572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4" name="Google Shape;214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0"/>
          <p:cNvSpPr txBox="1"/>
          <p:nvPr/>
        </p:nvSpPr>
        <p:spPr>
          <a:xfrm>
            <a:off x="762000" y="2005607"/>
            <a:ext cx="4572000" cy="1340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Unlike Folk or High Culture, Pop Culture is primarily produced for financial gain by massive global corporations (e.g., Disney, Sony).</a:t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762000" y="3555801"/>
            <a:ext cx="457200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The product often serves as a launchpad for a broader ecosystem of merchandise: toys, apparel, video games, and brand tie-ins.</a:t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762000" y="4770834"/>
            <a:ext cx="457200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E3A8A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Case Study:</a:t>
            </a:r>
            <a:r>
              <a:rPr lang="en-US" sz="1650" b="0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 The </a:t>
            </a:r>
            <a:r>
              <a:rPr lang="en-US" sz="1650" b="0" i="1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Barbie</a:t>
            </a:r>
            <a:r>
              <a:rPr lang="en-US" sz="1650" b="0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 movie functioned as a global marketing campaign for the underlying product line.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7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962150"/>
            <a:ext cx="50482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1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8813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1"/>
          <p:cNvSpPr txBox="1"/>
          <p:nvPr/>
        </p:nvSpPr>
        <p:spPr>
          <a:xfrm>
            <a:off x="762000" y="571500"/>
            <a:ext cx="11201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Standardization &amp; Predictability</a:t>
            </a:r>
            <a:endParaRPr/>
          </a:p>
        </p:txBody>
      </p:sp>
      <p:sp>
        <p:nvSpPr>
          <p:cNvPr id="226" name="Google Shape;226;p21"/>
          <p:cNvSpPr/>
          <p:nvPr/>
        </p:nvSpPr>
        <p:spPr>
          <a:xfrm>
            <a:off x="762000" y="1285875"/>
            <a:ext cx="10668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1"/>
          <p:cNvSpPr txBox="1"/>
          <p:nvPr/>
        </p:nvSpPr>
        <p:spPr>
          <a:xfrm>
            <a:off x="762000" y="1805228"/>
            <a:ext cx="5300662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881337"/>
                </a:solidFill>
                <a:latin typeface="Merriweather"/>
                <a:ea typeface="Merriweather"/>
                <a:cs typeface="Merriweather"/>
                <a:sym typeface="Merriweather"/>
              </a:rPr>
              <a:t>Formulaic Structures</a:t>
            </a:r>
            <a:endParaRPr dirty="0"/>
          </a:p>
        </p:txBody>
      </p:sp>
      <p:sp>
        <p:nvSpPr>
          <p:cNvPr id="228" name="Google Shape;228;p21"/>
          <p:cNvSpPr txBox="1"/>
          <p:nvPr/>
        </p:nvSpPr>
        <p:spPr>
          <a:xfrm>
            <a:off x="762000" y="2234490"/>
            <a:ext cx="504825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Audiences derive comfort from familiarity. Sitcoms, for example, often adhere to a specific "Setup-Conflict-Resolution" arc within a fixed runtime.</a:t>
            </a:r>
            <a:endParaRPr dirty="0"/>
          </a:p>
        </p:txBody>
      </p:sp>
      <p:sp>
        <p:nvSpPr>
          <p:cNvPr id="229" name="Google Shape;229;p21"/>
          <p:cNvSpPr txBox="1"/>
          <p:nvPr/>
        </p:nvSpPr>
        <p:spPr>
          <a:xfrm>
            <a:off x="762000" y="3867150"/>
            <a:ext cx="5300662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881337"/>
                </a:solidFill>
                <a:latin typeface="Merriweather"/>
                <a:ea typeface="Merriweather"/>
                <a:cs typeface="Merriweather"/>
                <a:sym typeface="Merriweather"/>
              </a:rPr>
              <a:t>Remix Culture</a:t>
            </a:r>
            <a:endParaRPr/>
          </a:p>
        </p:txBody>
      </p:sp>
      <p:sp>
        <p:nvSpPr>
          <p:cNvPr id="230" name="Google Shape;230;p21"/>
          <p:cNvSpPr txBox="1"/>
          <p:nvPr/>
        </p:nvSpPr>
        <p:spPr>
          <a:xfrm>
            <a:off x="762000" y="4295775"/>
            <a:ext cx="5048250" cy="1625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This structural reliance explains the prevalence of sequels, prequels, and reboots. Predictability reduces financial risk for producers, comforting for audiences.</a:t>
            </a:r>
            <a:endParaRPr dirty="0"/>
          </a:p>
        </p:txBody>
      </p:sp>
      <p:pic>
        <p:nvPicPr>
          <p:cNvPr id="231" name="Google Shape;231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67475" y="2047875"/>
            <a:ext cx="4876800" cy="363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962150"/>
            <a:ext cx="50482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2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8813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2"/>
          <p:cNvSpPr txBox="1"/>
          <p:nvPr/>
        </p:nvSpPr>
        <p:spPr>
          <a:xfrm>
            <a:off x="762000" y="571500"/>
            <a:ext cx="11201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Transience</a:t>
            </a:r>
            <a:endParaRPr/>
          </a:p>
        </p:txBody>
      </p:sp>
      <p:sp>
        <p:nvSpPr>
          <p:cNvPr id="240" name="Google Shape;240;p22"/>
          <p:cNvSpPr/>
          <p:nvPr/>
        </p:nvSpPr>
        <p:spPr>
          <a:xfrm>
            <a:off x="762000" y="1285875"/>
            <a:ext cx="10668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2"/>
          <p:cNvSpPr txBox="1"/>
          <p:nvPr/>
        </p:nvSpPr>
        <p:spPr>
          <a:xfrm>
            <a:off x="762000" y="1740991"/>
            <a:ext cx="504825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Pop culture is characterized by an obsession with the "now." Dominant trends can become obsolete with remarkable speed.</a:t>
            </a:r>
            <a:endParaRPr dirty="0"/>
          </a:p>
        </p:txBody>
      </p:sp>
      <p:sp>
        <p:nvSpPr>
          <p:cNvPr id="242" name="Google Shape;242;p22"/>
          <p:cNvSpPr txBox="1"/>
          <p:nvPr/>
        </p:nvSpPr>
        <p:spPr>
          <a:xfrm>
            <a:off x="762000" y="3192064"/>
            <a:ext cx="50482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1E3A8A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The Lifecycle of a Trend:</a:t>
            </a:r>
            <a:endParaRPr dirty="0"/>
          </a:p>
        </p:txBody>
      </p:sp>
      <p:pic>
        <p:nvPicPr>
          <p:cNvPr id="243" name="Google Shape;243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67475" y="2047875"/>
            <a:ext cx="4876800" cy="363855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2"/>
          <p:cNvSpPr txBox="1"/>
          <p:nvPr/>
        </p:nvSpPr>
        <p:spPr>
          <a:xfrm>
            <a:off x="581025" y="3734752"/>
            <a:ext cx="18097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1.</a:t>
            </a:r>
            <a:endParaRPr/>
          </a:p>
        </p:txBody>
      </p:sp>
      <p:sp>
        <p:nvSpPr>
          <p:cNvPr id="245" name="Google Shape;245;p22"/>
          <p:cNvSpPr txBox="1"/>
          <p:nvPr/>
        </p:nvSpPr>
        <p:spPr>
          <a:xfrm>
            <a:off x="762000" y="3733800"/>
            <a:ext cx="50482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Emergence</a:t>
            </a:r>
            <a:endParaRPr/>
          </a:p>
        </p:txBody>
      </p:sp>
      <p:sp>
        <p:nvSpPr>
          <p:cNvPr id="246" name="Google Shape;246;p22"/>
          <p:cNvSpPr txBox="1"/>
          <p:nvPr/>
        </p:nvSpPr>
        <p:spPr>
          <a:xfrm>
            <a:off x="581025" y="4184213"/>
            <a:ext cx="18097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2.</a:t>
            </a:r>
            <a:endParaRPr/>
          </a:p>
        </p:txBody>
      </p:sp>
      <p:sp>
        <p:nvSpPr>
          <p:cNvPr id="247" name="Google Shape;247;p22"/>
          <p:cNvSpPr txBox="1"/>
          <p:nvPr/>
        </p:nvSpPr>
        <p:spPr>
          <a:xfrm>
            <a:off x="762000" y="4183260"/>
            <a:ext cx="50482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Saturation (Mainstream)</a:t>
            </a:r>
            <a:endParaRPr/>
          </a:p>
        </p:txBody>
      </p:sp>
      <p:sp>
        <p:nvSpPr>
          <p:cNvPr id="248" name="Google Shape;248;p22"/>
          <p:cNvSpPr txBox="1"/>
          <p:nvPr/>
        </p:nvSpPr>
        <p:spPr>
          <a:xfrm>
            <a:off x="581025" y="4633674"/>
            <a:ext cx="18097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3.</a:t>
            </a:r>
            <a:endParaRPr/>
          </a:p>
        </p:txBody>
      </p:sp>
      <p:sp>
        <p:nvSpPr>
          <p:cNvPr id="249" name="Google Shape;249;p22"/>
          <p:cNvSpPr txBox="1"/>
          <p:nvPr/>
        </p:nvSpPr>
        <p:spPr>
          <a:xfrm>
            <a:off x="762000" y="4632721"/>
            <a:ext cx="50482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Obsolescence ("Outdated")</a:t>
            </a:r>
            <a:endParaRPr/>
          </a:p>
        </p:txBody>
      </p:sp>
      <p:sp>
        <p:nvSpPr>
          <p:cNvPr id="250" name="Google Shape;250;p22"/>
          <p:cNvSpPr txBox="1"/>
          <p:nvPr/>
        </p:nvSpPr>
        <p:spPr>
          <a:xfrm>
            <a:off x="581025" y="5083135"/>
            <a:ext cx="18097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4.</a:t>
            </a:r>
            <a:endParaRPr/>
          </a:p>
        </p:txBody>
      </p:sp>
      <p:sp>
        <p:nvSpPr>
          <p:cNvPr id="251" name="Google Shape;251;p22"/>
          <p:cNvSpPr txBox="1"/>
          <p:nvPr/>
        </p:nvSpPr>
        <p:spPr>
          <a:xfrm>
            <a:off x="762000" y="5082182"/>
            <a:ext cx="50482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Disappearance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1061</TotalTime>
  <Words>610</Words>
  <Application>Microsoft Macintosh PowerPoint</Application>
  <PresentationFormat>Widescreen</PresentationFormat>
  <Paragraphs>81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Merriweather</vt:lpstr>
      <vt:lpstr>Open Sans SemiBold</vt:lpstr>
      <vt:lpstr>Calibri</vt:lpstr>
      <vt:lpstr>Open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Sonal Jha</cp:lastModifiedBy>
  <cp:revision>3</cp:revision>
  <dcterms:modified xsi:type="dcterms:W3CDTF">2026-01-22T06:42:13Z</dcterms:modified>
</cp:coreProperties>
</file>