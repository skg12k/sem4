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DM Sans" pitchFamily="2" charset="77"/>
      <p:regular r:id="rId16"/>
      <p:bold r:id="rId17"/>
      <p:italic r:id="rId18"/>
      <p:boldItalic r:id="rId19"/>
    </p:embeddedFont>
    <p:embeddedFont>
      <p:font typeface="Merriweather" pitchFamily="2" charset="77"/>
      <p:regular r:id="rId20"/>
      <p:bold r:id="rId21"/>
      <p:italic r:id="rId22"/>
      <p:boldItalic r:id="rId23"/>
    </p:embeddedFont>
    <p:embeddedFont>
      <p:font typeface="Merriweather Black" pitchFamily="2" charset="77"/>
      <p:bold r:id="rId24"/>
      <p:italic r:id="rId25"/>
      <p:boldItalic r:id="rId26"/>
    </p:embeddedFont>
    <p:embeddedFont>
      <p:font typeface="Merriweather Light" pitchFamily="2" charset="77"/>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33"/>
    <p:restoredTop sz="94624"/>
  </p:normalViewPr>
  <p:slideViewPr>
    <p:cSldViewPr snapToGrid="0">
      <p:cViewPr varScale="1">
        <p:scale>
          <a:sx n="111" d="100"/>
          <a:sy n="111" d="100"/>
        </p:scale>
        <p:origin x="560"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Shape 83"/>
        <p:cNvGrpSpPr/>
        <p:nvPr/>
      </p:nvGrpSpPr>
      <p:grpSpPr>
        <a:xfrm>
          <a:off x="0" y="0"/>
          <a:ext cx="0" cy="0"/>
          <a:chOff x="0" y="0"/>
          <a:chExt cx="0" cy="0"/>
        </a:xfrm>
      </p:grpSpPr>
      <p:sp>
        <p:nvSpPr>
          <p:cNvPr id="84" name="Google Shape;84;p13"/>
          <p:cNvSpPr txBox="1"/>
          <p:nvPr/>
        </p:nvSpPr>
        <p:spPr>
          <a:xfrm>
            <a:off x="571500" y="2174527"/>
            <a:ext cx="5990748" cy="81253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0" i="0" u="none" strike="noStrike" cap="none" dirty="0">
                <a:solidFill>
                  <a:srgbClr val="FFFFFF"/>
                </a:solidFill>
                <a:latin typeface="Merriweather Black"/>
                <a:ea typeface="Merriweather Black"/>
                <a:cs typeface="Merriweather Black"/>
                <a:sym typeface="Merriweather Black"/>
              </a:rPr>
              <a:t>Campus Fiction</a:t>
            </a:r>
            <a:endParaRPr dirty="0"/>
          </a:p>
        </p:txBody>
      </p:sp>
      <p:sp>
        <p:nvSpPr>
          <p:cNvPr id="86" name="Google Shape;86;p13"/>
          <p:cNvSpPr txBox="1"/>
          <p:nvPr/>
        </p:nvSpPr>
        <p:spPr>
          <a:xfrm>
            <a:off x="571500" y="3654623"/>
            <a:ext cx="5705475"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dirty="0">
                <a:solidFill>
                  <a:srgbClr val="CBD5E1"/>
                </a:solidFill>
                <a:latin typeface="Merriweather Light"/>
                <a:ea typeface="Merriweather Light"/>
                <a:cs typeface="Merriweather Light"/>
                <a:sym typeface="Merriweather Light"/>
              </a:rPr>
              <a:t>Sonal Jha, PhD</a:t>
            </a:r>
          </a:p>
          <a:p>
            <a:pPr marL="0" marR="0" lvl="0" indent="0" algn="ctr" rtl="0">
              <a:lnSpc>
                <a:spcPct val="150000"/>
              </a:lnSpc>
              <a:spcBef>
                <a:spcPts val="0"/>
              </a:spcBef>
              <a:spcAft>
                <a:spcPts val="0"/>
              </a:spcAft>
              <a:buNone/>
            </a:pPr>
            <a:r>
              <a:rPr lang="en-US" sz="1800" b="0" i="0" u="none" strike="noStrike" cap="none" dirty="0">
                <a:solidFill>
                  <a:srgbClr val="CBD5E1"/>
                </a:solidFill>
                <a:latin typeface="Merriweather Light"/>
                <a:ea typeface="Merriweather Light"/>
                <a:cs typeface="Merriweather Light"/>
                <a:sym typeface="Merriweather Light"/>
              </a:rPr>
              <a:t>Department of Humanities and Social Sciences</a:t>
            </a:r>
          </a:p>
          <a:p>
            <a:pPr marL="0" marR="0" lvl="0" indent="0" algn="ctr" rtl="0">
              <a:lnSpc>
                <a:spcPct val="150000"/>
              </a:lnSpc>
              <a:spcBef>
                <a:spcPts val="0"/>
              </a:spcBef>
              <a:spcAft>
                <a:spcPts val="0"/>
              </a:spcAft>
              <a:buNone/>
            </a:pPr>
            <a:r>
              <a:rPr lang="en-US" sz="1800" dirty="0">
                <a:solidFill>
                  <a:srgbClr val="CBD5E1"/>
                </a:solidFill>
                <a:latin typeface="Merriweather Light"/>
                <a:ea typeface="Merriweather Light"/>
                <a:cs typeface="Merriweather Light"/>
                <a:sym typeface="Merriweather Light"/>
              </a:rPr>
              <a:t>IIT Roorkee</a:t>
            </a:r>
            <a:endParaRPr dirty="0"/>
          </a:p>
        </p:txBody>
      </p:sp>
      <p:pic>
        <p:nvPicPr>
          <p:cNvPr id="87" name="Google Shape;87;p13" descr="image.png"/>
          <p:cNvPicPr preferRelativeResize="0"/>
          <p:nvPr/>
        </p:nvPicPr>
        <p:blipFill rotWithShape="1">
          <a:blip r:embed="rId3">
            <a:alphaModFix/>
          </a:blip>
          <a:srcRect/>
          <a:stretch/>
        </p:blipFill>
        <p:spPr>
          <a:xfrm>
            <a:off x="6705600" y="0"/>
            <a:ext cx="54864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1"/>
        <p:cNvGrpSpPr/>
        <p:nvPr/>
      </p:nvGrpSpPr>
      <p:grpSpPr>
        <a:xfrm>
          <a:off x="0" y="0"/>
          <a:ext cx="0" cy="0"/>
          <a:chOff x="0" y="0"/>
          <a:chExt cx="0" cy="0"/>
        </a:xfrm>
      </p:grpSpPr>
      <p:sp>
        <p:nvSpPr>
          <p:cNvPr id="93" name="Google Shape;93;p14"/>
          <p:cNvSpPr txBox="1"/>
          <p:nvPr/>
        </p:nvSpPr>
        <p:spPr>
          <a:xfrm>
            <a:off x="480059" y="652175"/>
            <a:ext cx="10652759" cy="6924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dirty="0">
                <a:solidFill>
                  <a:srgbClr val="1E3A8A"/>
                </a:solidFill>
                <a:latin typeface="Merriweather"/>
                <a:ea typeface="Merriweather"/>
                <a:cs typeface="Merriweather"/>
                <a:sym typeface="Merriweather"/>
              </a:rPr>
              <a:t>Academia as “</a:t>
            </a:r>
            <a:r>
              <a:rPr lang="en-US" sz="4500" b="1" i="0" u="none" strike="noStrike" cap="none" dirty="0">
                <a:solidFill>
                  <a:srgbClr val="1E3A8A"/>
                </a:solidFill>
                <a:latin typeface="Merriweather"/>
                <a:ea typeface="Merriweather"/>
                <a:cs typeface="Merriweather"/>
                <a:sym typeface="Merriweather"/>
              </a:rPr>
              <a:t>The Ivory Tower”</a:t>
            </a:r>
            <a:endParaRPr dirty="0"/>
          </a:p>
        </p:txBody>
      </p:sp>
      <p:sp>
        <p:nvSpPr>
          <p:cNvPr id="95" name="Google Shape;95;p14"/>
          <p:cNvSpPr txBox="1"/>
          <p:nvPr/>
        </p:nvSpPr>
        <p:spPr>
          <a:xfrm>
            <a:off x="777241" y="5762230"/>
            <a:ext cx="10652759" cy="689420"/>
          </a:xfrm>
          <a:prstGeom prst="rect">
            <a:avLst/>
          </a:prstGeom>
          <a:noFill/>
          <a:ln>
            <a:noFill/>
          </a:ln>
        </p:spPr>
        <p:txBody>
          <a:bodyPr spcFirstLastPara="1" wrap="square" lIns="0" tIns="0" rIns="0" bIns="0" anchor="t" anchorCtr="0">
            <a:spAutoFit/>
          </a:bodyPr>
          <a:lstStyle/>
          <a:p>
            <a:pPr marL="285750" marR="0" lvl="0" indent="-285750" rtl="0">
              <a:lnSpc>
                <a:spcPct val="159944"/>
              </a:lnSpc>
              <a:spcBef>
                <a:spcPts val="0"/>
              </a:spcBef>
              <a:spcAft>
                <a:spcPts val="0"/>
              </a:spcAft>
              <a:buFont typeface="Arial" panose="020B0604020202020204" pitchFamily="34" charset="0"/>
              <a:buChar char="•"/>
            </a:pPr>
            <a:r>
              <a:rPr lang="en-US" dirty="0"/>
              <a:t>Term used to signify the disconnect between academia and everyday life</a:t>
            </a:r>
          </a:p>
          <a:p>
            <a:pPr marL="285750" marR="0" lvl="0" indent="-285750" rtl="0">
              <a:lnSpc>
                <a:spcPct val="159944"/>
              </a:lnSpc>
              <a:spcBef>
                <a:spcPts val="0"/>
              </a:spcBef>
              <a:spcAft>
                <a:spcPts val="0"/>
              </a:spcAft>
              <a:buFont typeface="Arial" panose="020B0604020202020204" pitchFamily="34" charset="0"/>
              <a:buChar char="•"/>
            </a:pPr>
            <a:r>
              <a:rPr lang="en-US" dirty="0"/>
              <a:t>Also signifies privilege and separation</a:t>
            </a:r>
          </a:p>
        </p:txBody>
      </p:sp>
      <p:pic>
        <p:nvPicPr>
          <p:cNvPr id="2" name="Picture 1">
            <a:extLst>
              <a:ext uri="{FF2B5EF4-FFF2-40B4-BE49-F238E27FC236}">
                <a16:creationId xmlns:a16="http://schemas.microsoft.com/office/drawing/2014/main" id="{EB06586A-FB5B-F106-6C58-98B5292EACBA}"/>
              </a:ext>
            </a:extLst>
          </p:cNvPr>
          <p:cNvPicPr>
            <a:picLocks noChangeAspect="1"/>
          </p:cNvPicPr>
          <p:nvPr/>
        </p:nvPicPr>
        <p:blipFill>
          <a:blip r:embed="rId3"/>
          <a:srcRect l="7952" r="6311" b="8736"/>
          <a:stretch/>
        </p:blipFill>
        <p:spPr>
          <a:xfrm>
            <a:off x="2926080" y="1678151"/>
            <a:ext cx="6663690" cy="39911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9"/>
        <p:cNvGrpSpPr/>
        <p:nvPr/>
      </p:nvGrpSpPr>
      <p:grpSpPr>
        <a:xfrm>
          <a:off x="0" y="0"/>
          <a:ext cx="0" cy="0"/>
          <a:chOff x="0" y="0"/>
          <a:chExt cx="0" cy="0"/>
        </a:xfrm>
      </p:grpSpPr>
      <p:sp>
        <p:nvSpPr>
          <p:cNvPr id="101" name="Google Shape;101;p15"/>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E3A8A"/>
                </a:solidFill>
                <a:latin typeface="Merriweather"/>
                <a:ea typeface="Merriweather"/>
                <a:cs typeface="Merriweather"/>
                <a:sym typeface="Merriweather"/>
              </a:rPr>
              <a:t>What is Campus Fiction?</a:t>
            </a:r>
            <a:endParaRPr/>
          </a:p>
        </p:txBody>
      </p:sp>
      <p:sp>
        <p:nvSpPr>
          <p:cNvPr id="102" name="Google Shape;102;p15"/>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5"/>
          <p:cNvSpPr txBox="1"/>
          <p:nvPr/>
        </p:nvSpPr>
        <p:spPr>
          <a:xfrm>
            <a:off x="819150" y="1776412"/>
            <a:ext cx="4991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A Closed World:</a:t>
            </a:r>
            <a:r>
              <a:rPr lang="en-US" sz="1500" b="0" i="0" u="none" strike="noStrike" cap="none">
                <a:solidFill>
                  <a:srgbClr val="334155"/>
                </a:solidFill>
                <a:latin typeface="DM Sans"/>
                <a:ea typeface="DM Sans"/>
                <a:cs typeface="DM Sans"/>
                <a:sym typeface="DM Sans"/>
              </a:rPr>
              <a:t> The university campus acts as a microcosm of society, isolated from the "real world," allowing for intense scrutiny of social dynamics.</a:t>
            </a:r>
            <a:endParaRPr/>
          </a:p>
        </p:txBody>
      </p:sp>
      <p:sp>
        <p:nvSpPr>
          <p:cNvPr id="104" name="Google Shape;104;p15"/>
          <p:cNvSpPr txBox="1"/>
          <p:nvPr/>
        </p:nvSpPr>
        <p:spPr>
          <a:xfrm>
            <a:off x="819150" y="2862262"/>
            <a:ext cx="4991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Satire &amp; Critique:</a:t>
            </a:r>
            <a:r>
              <a:rPr lang="en-US" sz="1500" b="0" i="0" u="none" strike="noStrike" cap="none">
                <a:solidFill>
                  <a:srgbClr val="334155"/>
                </a:solidFill>
                <a:latin typeface="DM Sans"/>
                <a:ea typeface="DM Sans"/>
                <a:cs typeface="DM Sans"/>
                <a:sym typeface="DM Sans"/>
              </a:rPr>
              <a:t> Often satirizes intellectual pretensions, academic politics, and the disconnect between theory and reality.</a:t>
            </a:r>
            <a:endParaRPr/>
          </a:p>
        </p:txBody>
      </p:sp>
      <p:sp>
        <p:nvSpPr>
          <p:cNvPr id="105" name="Google Shape;105;p15"/>
          <p:cNvSpPr txBox="1"/>
          <p:nvPr/>
        </p:nvSpPr>
        <p:spPr>
          <a:xfrm>
            <a:off x="819150" y="3948112"/>
            <a:ext cx="4991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The "Coming of Age":</a:t>
            </a:r>
            <a:r>
              <a:rPr lang="en-US" sz="1500" b="0" i="0" u="none" strike="noStrike" cap="none">
                <a:solidFill>
                  <a:srgbClr val="334155"/>
                </a:solidFill>
                <a:latin typeface="DM Sans"/>
                <a:ea typeface="DM Sans"/>
                <a:cs typeface="DM Sans"/>
                <a:sym typeface="DM Sans"/>
              </a:rPr>
              <a:t> Frequently explores the </a:t>
            </a:r>
            <a:r>
              <a:rPr lang="en-US" sz="1500" b="0" i="1" u="none" strike="noStrike" cap="none">
                <a:solidFill>
                  <a:srgbClr val="334155"/>
                </a:solidFill>
                <a:latin typeface="DM Sans"/>
                <a:ea typeface="DM Sans"/>
                <a:cs typeface="DM Sans"/>
                <a:sym typeface="DM Sans"/>
              </a:rPr>
              <a:t>Bildungsroman</a:t>
            </a:r>
            <a:r>
              <a:rPr lang="en-US" sz="1500" b="0" i="0" u="none" strike="noStrike" cap="none">
                <a:solidFill>
                  <a:srgbClr val="334155"/>
                </a:solidFill>
                <a:latin typeface="DM Sans"/>
                <a:ea typeface="DM Sans"/>
                <a:cs typeface="DM Sans"/>
                <a:sym typeface="DM Sans"/>
              </a:rPr>
              <a:t> arc for students, or the mid-life crises of professors.</a:t>
            </a:r>
            <a:endParaRPr/>
          </a:p>
        </p:txBody>
      </p:sp>
      <p:sp>
        <p:nvSpPr>
          <p:cNvPr id="106" name="Google Shape;106;p15"/>
          <p:cNvSpPr txBox="1"/>
          <p:nvPr/>
        </p:nvSpPr>
        <p:spPr>
          <a:xfrm>
            <a:off x="819150" y="5033962"/>
            <a:ext cx="4991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Key Tensions:</a:t>
            </a:r>
            <a:r>
              <a:rPr lang="en-US" sz="1500" b="0" i="0" u="none" strike="noStrike" cap="none">
                <a:solidFill>
                  <a:srgbClr val="334155"/>
                </a:solidFill>
                <a:latin typeface="DM Sans"/>
                <a:ea typeface="DM Sans"/>
                <a:cs typeface="DM Sans"/>
                <a:sym typeface="DM Sans"/>
              </a:rPr>
              <a:t> The Town vs. Gown conflict, tradition vs. modernity, and the pursuit of knowledge vs. institutional bureaucracy.</a:t>
            </a:r>
            <a:endParaRPr/>
          </a:p>
        </p:txBody>
      </p:sp>
      <p:pic>
        <p:nvPicPr>
          <p:cNvPr id="107" name="Google Shape;107;p15" descr="image.png"/>
          <p:cNvPicPr preferRelativeResize="0"/>
          <p:nvPr/>
        </p:nvPicPr>
        <p:blipFill rotWithShape="1">
          <a:blip r:embed="rId3">
            <a:alphaModFix/>
          </a:blip>
          <a:srcRect/>
          <a:stretch/>
        </p:blipFill>
        <p:spPr>
          <a:xfrm>
            <a:off x="7805737" y="2195512"/>
            <a:ext cx="2381250" cy="3505200"/>
          </a:xfrm>
          <a:prstGeom prst="rect">
            <a:avLst/>
          </a:prstGeom>
          <a:noFill/>
          <a:ln>
            <a:noFill/>
          </a:ln>
        </p:spPr>
      </p:pic>
      <p:sp>
        <p:nvSpPr>
          <p:cNvPr id="108" name="Google Shape;108;p15"/>
          <p:cNvSpPr txBox="1"/>
          <p:nvPr/>
        </p:nvSpPr>
        <p:spPr>
          <a:xfrm>
            <a:off x="581025" y="175736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09" name="Google Shape;109;p15"/>
          <p:cNvSpPr txBox="1"/>
          <p:nvPr/>
        </p:nvSpPr>
        <p:spPr>
          <a:xfrm>
            <a:off x="581025" y="284321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10" name="Google Shape;110;p15"/>
          <p:cNvSpPr txBox="1"/>
          <p:nvPr/>
        </p:nvSpPr>
        <p:spPr>
          <a:xfrm>
            <a:off x="581025" y="392906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11" name="Google Shape;111;p15"/>
          <p:cNvSpPr txBox="1"/>
          <p:nvPr/>
        </p:nvSpPr>
        <p:spPr>
          <a:xfrm>
            <a:off x="581025" y="501491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5"/>
        <p:cNvGrpSpPr/>
        <p:nvPr/>
      </p:nvGrpSpPr>
      <p:grpSpPr>
        <a:xfrm>
          <a:off x="0" y="0"/>
          <a:ext cx="0" cy="0"/>
          <a:chOff x="0" y="0"/>
          <a:chExt cx="0" cy="0"/>
        </a:xfrm>
      </p:grpSpPr>
      <p:pic>
        <p:nvPicPr>
          <p:cNvPr id="116" name="Google Shape;116;p16" descr="image.png"/>
          <p:cNvPicPr preferRelativeResize="0"/>
          <p:nvPr/>
        </p:nvPicPr>
        <p:blipFill rotWithShape="1">
          <a:blip r:embed="rId3">
            <a:alphaModFix/>
          </a:blip>
          <a:srcRect/>
          <a:stretch/>
        </p:blipFill>
        <p:spPr>
          <a:xfrm>
            <a:off x="581025" y="1619250"/>
            <a:ext cx="3486150" cy="4657725"/>
          </a:xfrm>
          <a:prstGeom prst="rect">
            <a:avLst/>
          </a:prstGeom>
          <a:noFill/>
          <a:ln>
            <a:noFill/>
          </a:ln>
        </p:spPr>
      </p:pic>
      <p:pic>
        <p:nvPicPr>
          <p:cNvPr id="117" name="Google Shape;117;p16" descr="image.png"/>
          <p:cNvPicPr preferRelativeResize="0"/>
          <p:nvPr/>
        </p:nvPicPr>
        <p:blipFill rotWithShape="1">
          <a:blip r:embed="rId4">
            <a:alphaModFix/>
          </a:blip>
          <a:srcRect/>
          <a:stretch/>
        </p:blipFill>
        <p:spPr>
          <a:xfrm>
            <a:off x="4352925" y="1619250"/>
            <a:ext cx="3486150" cy="4657725"/>
          </a:xfrm>
          <a:prstGeom prst="rect">
            <a:avLst/>
          </a:prstGeom>
          <a:noFill/>
          <a:ln>
            <a:noFill/>
          </a:ln>
        </p:spPr>
      </p:pic>
      <p:pic>
        <p:nvPicPr>
          <p:cNvPr id="118" name="Google Shape;118;p16" descr="image.png"/>
          <p:cNvPicPr preferRelativeResize="0"/>
          <p:nvPr/>
        </p:nvPicPr>
        <p:blipFill rotWithShape="1">
          <a:blip r:embed="rId3">
            <a:alphaModFix/>
          </a:blip>
          <a:srcRect/>
          <a:stretch/>
        </p:blipFill>
        <p:spPr>
          <a:xfrm>
            <a:off x="8124825" y="1619250"/>
            <a:ext cx="3486150" cy="4657725"/>
          </a:xfrm>
          <a:prstGeom prst="rect">
            <a:avLst/>
          </a:prstGeom>
          <a:noFill/>
          <a:ln>
            <a:noFill/>
          </a:ln>
        </p:spPr>
      </p:pic>
      <p:sp>
        <p:nvSpPr>
          <p:cNvPr id="119" name="Google Shape;119;p16"/>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E3A8A"/>
                </a:solidFill>
                <a:latin typeface="Merriweather"/>
                <a:ea typeface="Merriweather"/>
                <a:cs typeface="Merriweather"/>
                <a:sym typeface="Merriweather"/>
              </a:rPr>
              <a:t>Core Themes of the Genre</a:t>
            </a:r>
            <a:endParaRPr/>
          </a:p>
        </p:txBody>
      </p:sp>
      <p:sp>
        <p:nvSpPr>
          <p:cNvPr id="120" name="Google Shape;120;p16"/>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6"/>
          <p:cNvSpPr txBox="1"/>
          <p:nvPr/>
        </p:nvSpPr>
        <p:spPr>
          <a:xfrm>
            <a:off x="1188958" y="2581275"/>
            <a:ext cx="2270283"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Intellectual Rivalry</a:t>
            </a:r>
            <a:endParaRPr/>
          </a:p>
        </p:txBody>
      </p:sp>
      <p:sp>
        <p:nvSpPr>
          <p:cNvPr id="122" name="Google Shape;122;p16"/>
          <p:cNvSpPr txBox="1"/>
          <p:nvPr/>
        </p:nvSpPr>
        <p:spPr>
          <a:xfrm>
            <a:off x="876300" y="3143250"/>
            <a:ext cx="28956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DM Sans"/>
                <a:ea typeface="DM Sans"/>
                <a:cs typeface="DM Sans"/>
                <a:sym typeface="DM Sans"/>
              </a:rPr>
              <a:t>Petty squabbles over tenure, publications, and office space often mask deeper existential anxieties among faculty members.</a:t>
            </a:r>
            <a:endParaRPr/>
          </a:p>
        </p:txBody>
      </p:sp>
      <p:sp>
        <p:nvSpPr>
          <p:cNvPr id="123" name="Google Shape;123;p16"/>
          <p:cNvSpPr txBox="1"/>
          <p:nvPr/>
        </p:nvSpPr>
        <p:spPr>
          <a:xfrm>
            <a:off x="5210889" y="2581275"/>
            <a:ext cx="1770221"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Social Mobility</a:t>
            </a:r>
            <a:endParaRPr/>
          </a:p>
        </p:txBody>
      </p:sp>
      <p:sp>
        <p:nvSpPr>
          <p:cNvPr id="124" name="Google Shape;124;p16"/>
          <p:cNvSpPr txBox="1"/>
          <p:nvPr/>
        </p:nvSpPr>
        <p:spPr>
          <a:xfrm>
            <a:off x="4648200" y="3143250"/>
            <a:ext cx="28956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DM Sans"/>
                <a:ea typeface="DM Sans"/>
                <a:cs typeface="DM Sans"/>
                <a:sym typeface="DM Sans"/>
              </a:rPr>
              <a:t>The campus as a gateway to the middle class, where characters navigate class barriers, elitism, and the promise of meritocracy.</a:t>
            </a:r>
            <a:endParaRPr/>
          </a:p>
        </p:txBody>
      </p:sp>
      <p:sp>
        <p:nvSpPr>
          <p:cNvPr id="125" name="Google Shape;125;p16"/>
          <p:cNvSpPr txBox="1"/>
          <p:nvPr/>
        </p:nvSpPr>
        <p:spPr>
          <a:xfrm>
            <a:off x="8733715" y="2581275"/>
            <a:ext cx="2269327"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1E3A8A"/>
                </a:solidFill>
                <a:latin typeface="Merriweather"/>
                <a:ea typeface="Merriweather"/>
                <a:cs typeface="Merriweather"/>
                <a:sym typeface="Merriweather"/>
              </a:rPr>
              <a:t>Comedy </a:t>
            </a:r>
            <a:r>
              <a:rPr lang="en-US" sz="1800" b="1" dirty="0">
                <a:solidFill>
                  <a:srgbClr val="1E3A8A"/>
                </a:solidFill>
                <a:latin typeface="Merriweather"/>
                <a:ea typeface="Merriweather"/>
                <a:cs typeface="Merriweather"/>
                <a:sym typeface="Merriweather"/>
              </a:rPr>
              <a:t>or</a:t>
            </a:r>
            <a:r>
              <a:rPr lang="en-US" sz="1800" b="1" i="0" u="none" strike="noStrike" cap="none" dirty="0">
                <a:solidFill>
                  <a:srgbClr val="1E3A8A"/>
                </a:solidFill>
                <a:latin typeface="Merriweather"/>
                <a:ea typeface="Merriweather"/>
                <a:cs typeface="Merriweather"/>
                <a:sym typeface="Merriweather"/>
              </a:rPr>
              <a:t> Tragedy</a:t>
            </a:r>
            <a:endParaRPr dirty="0"/>
          </a:p>
        </p:txBody>
      </p:sp>
      <p:sp>
        <p:nvSpPr>
          <p:cNvPr id="126" name="Google Shape;126;p16"/>
          <p:cNvSpPr txBox="1"/>
          <p:nvPr/>
        </p:nvSpPr>
        <p:spPr>
          <a:xfrm>
            <a:off x="8420100" y="3143250"/>
            <a:ext cx="289560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DM Sans"/>
                <a:ea typeface="DM Sans"/>
                <a:cs typeface="DM Sans"/>
                <a:sym typeface="DM Sans"/>
              </a:rPr>
              <a:t>The genre swings between hilarious misunderstandings (e.g., </a:t>
            </a:r>
            <a:r>
              <a:rPr lang="en-US" sz="1350" b="0" i="1" u="none" strike="noStrike" cap="none">
                <a:solidFill>
                  <a:srgbClr val="475569"/>
                </a:solidFill>
                <a:latin typeface="DM Sans"/>
                <a:ea typeface="DM Sans"/>
                <a:cs typeface="DM Sans"/>
                <a:sym typeface="DM Sans"/>
              </a:rPr>
              <a:t>Lucky Jim</a:t>
            </a:r>
            <a:r>
              <a:rPr lang="en-US" sz="1350" b="0" i="0" u="none" strike="noStrike" cap="none">
                <a:solidFill>
                  <a:srgbClr val="475569"/>
                </a:solidFill>
                <a:latin typeface="DM Sans"/>
                <a:ea typeface="DM Sans"/>
                <a:cs typeface="DM Sans"/>
                <a:sym typeface="DM Sans"/>
              </a:rPr>
              <a:t>) and dark secrets (e.g., </a:t>
            </a:r>
            <a:r>
              <a:rPr lang="en-US" sz="1350" b="0" i="1" u="none" strike="noStrike" cap="none">
                <a:solidFill>
                  <a:srgbClr val="475569"/>
                </a:solidFill>
                <a:latin typeface="DM Sans"/>
                <a:ea typeface="DM Sans"/>
                <a:cs typeface="DM Sans"/>
                <a:sym typeface="DM Sans"/>
              </a:rPr>
              <a:t>The Secret History</a:t>
            </a:r>
            <a:r>
              <a:rPr lang="en-US" sz="1350" b="0" i="0" u="none" strike="noStrike" cap="none">
                <a:solidFill>
                  <a:srgbClr val="475569"/>
                </a:solidFill>
                <a:latin typeface="DM Sans"/>
                <a:ea typeface="DM Sans"/>
                <a:cs typeface="DM Sans"/>
                <a:sym typeface="DM Sans"/>
              </a:rPr>
              <a:t>).</a:t>
            </a:r>
            <a:endParaRPr/>
          </a:p>
        </p:txBody>
      </p:sp>
      <p:pic>
        <p:nvPicPr>
          <p:cNvPr id="127" name="Google Shape;127;p16" descr="image.png"/>
          <p:cNvPicPr preferRelativeResize="0"/>
          <p:nvPr/>
        </p:nvPicPr>
        <p:blipFill rotWithShape="1">
          <a:blip r:embed="rId5">
            <a:alphaModFix/>
          </a:blip>
          <a:srcRect/>
          <a:stretch/>
        </p:blipFill>
        <p:spPr>
          <a:xfrm>
            <a:off x="2109787" y="1990725"/>
            <a:ext cx="428625" cy="342900"/>
          </a:xfrm>
          <a:prstGeom prst="rect">
            <a:avLst/>
          </a:prstGeom>
          <a:noFill/>
          <a:ln>
            <a:noFill/>
          </a:ln>
        </p:spPr>
      </p:pic>
      <p:pic>
        <p:nvPicPr>
          <p:cNvPr id="128" name="Google Shape;128;p16" descr="image.png"/>
          <p:cNvPicPr preferRelativeResize="0"/>
          <p:nvPr/>
        </p:nvPicPr>
        <p:blipFill rotWithShape="1">
          <a:blip r:embed="rId6">
            <a:alphaModFix/>
          </a:blip>
          <a:srcRect/>
          <a:stretch/>
        </p:blipFill>
        <p:spPr>
          <a:xfrm>
            <a:off x="5881687" y="1990725"/>
            <a:ext cx="428625" cy="342900"/>
          </a:xfrm>
          <a:prstGeom prst="rect">
            <a:avLst/>
          </a:prstGeom>
          <a:noFill/>
          <a:ln>
            <a:noFill/>
          </a:ln>
        </p:spPr>
      </p:pic>
      <p:pic>
        <p:nvPicPr>
          <p:cNvPr id="129" name="Google Shape;129;p16" descr="image.png"/>
          <p:cNvPicPr preferRelativeResize="0"/>
          <p:nvPr/>
        </p:nvPicPr>
        <p:blipFill rotWithShape="1">
          <a:blip r:embed="rId7">
            <a:alphaModFix/>
          </a:blip>
          <a:srcRect/>
          <a:stretch/>
        </p:blipFill>
        <p:spPr>
          <a:xfrm>
            <a:off x="9653587" y="1990725"/>
            <a:ext cx="428625" cy="342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F8FAFC"/>
        </a:solidFill>
        <a:effectLst/>
      </p:bgPr>
    </p:bg>
    <p:spTree>
      <p:nvGrpSpPr>
        <p:cNvPr id="1" name="Shape 133"/>
        <p:cNvGrpSpPr/>
        <p:nvPr/>
      </p:nvGrpSpPr>
      <p:grpSpPr>
        <a:xfrm>
          <a:off x="0" y="0"/>
          <a:ext cx="0" cy="0"/>
          <a:chOff x="0" y="0"/>
          <a:chExt cx="0" cy="0"/>
        </a:xfrm>
      </p:grpSpPr>
      <p:sp>
        <p:nvSpPr>
          <p:cNvPr id="134" name="Google Shape;134;p17"/>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E3A8A"/>
                </a:solidFill>
                <a:latin typeface="Merriweather"/>
                <a:ea typeface="Merriweather"/>
                <a:cs typeface="Merriweather"/>
                <a:sym typeface="Merriweather"/>
              </a:rPr>
              <a:t>Global Landmarks</a:t>
            </a:r>
            <a:endParaRPr/>
          </a:p>
        </p:txBody>
      </p:sp>
      <p:sp>
        <p:nvSpPr>
          <p:cNvPr id="135" name="Google Shape;135;p17"/>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7"/>
          <p:cNvSpPr/>
          <p:nvPr/>
        </p:nvSpPr>
        <p:spPr>
          <a:xfrm>
            <a:off x="581025" y="3224361"/>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17"/>
          <p:cNvSpPr/>
          <p:nvPr/>
        </p:nvSpPr>
        <p:spPr>
          <a:xfrm>
            <a:off x="1715988" y="3100536"/>
            <a:ext cx="266700" cy="266700"/>
          </a:xfrm>
          <a:prstGeom prst="roundRect">
            <a:avLst>
              <a:gd name="adj" fmla="val 50000"/>
            </a:avLst>
          </a:prstGeom>
          <a:solidFill>
            <a:srgbClr val="1E3A8A"/>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7"/>
          <p:cNvSpPr/>
          <p:nvPr/>
        </p:nvSpPr>
        <p:spPr>
          <a:xfrm>
            <a:off x="4546996" y="3100536"/>
            <a:ext cx="266700" cy="266700"/>
          </a:xfrm>
          <a:prstGeom prst="roundRect">
            <a:avLst>
              <a:gd name="adj" fmla="val 50000"/>
            </a:avLst>
          </a:prstGeom>
          <a:solidFill>
            <a:srgbClr val="1E3A8A"/>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7"/>
          <p:cNvSpPr/>
          <p:nvPr/>
        </p:nvSpPr>
        <p:spPr>
          <a:xfrm>
            <a:off x="7378005" y="3100536"/>
            <a:ext cx="266700" cy="266700"/>
          </a:xfrm>
          <a:prstGeom prst="roundRect">
            <a:avLst>
              <a:gd name="adj" fmla="val 50000"/>
            </a:avLst>
          </a:prstGeom>
          <a:solidFill>
            <a:srgbClr val="1E3A8A"/>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7"/>
          <p:cNvSpPr/>
          <p:nvPr/>
        </p:nvSpPr>
        <p:spPr>
          <a:xfrm>
            <a:off x="10209014" y="3100536"/>
            <a:ext cx="266700" cy="266700"/>
          </a:xfrm>
          <a:prstGeom prst="roundRect">
            <a:avLst>
              <a:gd name="adj" fmla="val 50000"/>
            </a:avLst>
          </a:prstGeom>
          <a:solidFill>
            <a:srgbClr val="1E3A8A"/>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7"/>
          <p:cNvSpPr txBox="1"/>
          <p:nvPr/>
        </p:nvSpPr>
        <p:spPr>
          <a:xfrm>
            <a:off x="517605" y="3557736"/>
            <a:ext cx="2663614"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1E3A8A"/>
                </a:solidFill>
                <a:latin typeface="Merriweather"/>
                <a:ea typeface="Merriweather"/>
                <a:cs typeface="Merriweather"/>
                <a:sym typeface="Merriweather"/>
              </a:rPr>
              <a:t>1954</a:t>
            </a:r>
            <a:endParaRPr/>
          </a:p>
        </p:txBody>
      </p:sp>
      <p:sp>
        <p:nvSpPr>
          <p:cNvPr id="142" name="Google Shape;142;p17"/>
          <p:cNvSpPr txBox="1"/>
          <p:nvPr/>
        </p:nvSpPr>
        <p:spPr>
          <a:xfrm>
            <a:off x="581025" y="3976836"/>
            <a:ext cx="2536775"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1" i="0" u="none" strike="noStrike" cap="none">
                <a:solidFill>
                  <a:srgbClr val="64748B"/>
                </a:solidFill>
                <a:latin typeface="DM Sans"/>
                <a:ea typeface="DM Sans"/>
                <a:cs typeface="DM Sans"/>
                <a:sym typeface="DM Sans"/>
              </a:rPr>
              <a:t>Lucky Jim</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64748B"/>
                </a:solidFill>
                <a:latin typeface="DM Sans"/>
                <a:ea typeface="DM Sans"/>
                <a:cs typeface="DM Sans"/>
                <a:sym typeface="DM Sans"/>
              </a:rPr>
              <a:t>Kingsley Amis</a:t>
            </a:r>
            <a:endParaRPr/>
          </a:p>
        </p:txBody>
      </p:sp>
      <p:sp>
        <p:nvSpPr>
          <p:cNvPr id="143" name="Google Shape;143;p17"/>
          <p:cNvSpPr txBox="1"/>
          <p:nvPr/>
        </p:nvSpPr>
        <p:spPr>
          <a:xfrm>
            <a:off x="581025" y="4616797"/>
            <a:ext cx="2536775" cy="426541"/>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050" b="0" i="0" u="none" strike="noStrike" cap="none">
                <a:solidFill>
                  <a:srgbClr val="64748B"/>
                </a:solidFill>
                <a:latin typeface="DM Sans"/>
                <a:ea typeface="DM Sans"/>
                <a:cs typeface="DM Sans"/>
                <a:sym typeface="DM Sans"/>
              </a:rPr>
              <a:t>Seminal satire of provincial academic life.</a:t>
            </a:r>
            <a:endParaRPr/>
          </a:p>
        </p:txBody>
      </p:sp>
      <p:sp>
        <p:nvSpPr>
          <p:cNvPr id="144" name="Google Shape;144;p17"/>
          <p:cNvSpPr txBox="1"/>
          <p:nvPr/>
        </p:nvSpPr>
        <p:spPr>
          <a:xfrm>
            <a:off x="3348614" y="3557736"/>
            <a:ext cx="2663614"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1E3A8A"/>
                </a:solidFill>
                <a:latin typeface="Merriweather"/>
                <a:ea typeface="Merriweather"/>
                <a:cs typeface="Merriweather"/>
                <a:sym typeface="Merriweather"/>
              </a:rPr>
              <a:t>1965</a:t>
            </a:r>
            <a:endParaRPr/>
          </a:p>
        </p:txBody>
      </p:sp>
      <p:sp>
        <p:nvSpPr>
          <p:cNvPr id="145" name="Google Shape;145;p17"/>
          <p:cNvSpPr txBox="1"/>
          <p:nvPr/>
        </p:nvSpPr>
        <p:spPr>
          <a:xfrm>
            <a:off x="3412033" y="3976836"/>
            <a:ext cx="2536775"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1" i="0" u="none" strike="noStrike" cap="none">
                <a:solidFill>
                  <a:srgbClr val="64748B"/>
                </a:solidFill>
                <a:latin typeface="DM Sans"/>
                <a:ea typeface="DM Sans"/>
                <a:cs typeface="DM Sans"/>
                <a:sym typeface="DM Sans"/>
              </a:rPr>
              <a:t>Stoner</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64748B"/>
                </a:solidFill>
                <a:latin typeface="DM Sans"/>
                <a:ea typeface="DM Sans"/>
                <a:cs typeface="DM Sans"/>
                <a:sym typeface="DM Sans"/>
              </a:rPr>
              <a:t>John Williams</a:t>
            </a:r>
            <a:endParaRPr/>
          </a:p>
        </p:txBody>
      </p:sp>
      <p:sp>
        <p:nvSpPr>
          <p:cNvPr id="146" name="Google Shape;146;p17"/>
          <p:cNvSpPr txBox="1"/>
          <p:nvPr/>
        </p:nvSpPr>
        <p:spPr>
          <a:xfrm>
            <a:off x="3412033" y="4616797"/>
            <a:ext cx="2536775" cy="213270"/>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050" b="0" i="0" u="none" strike="noStrike" cap="none">
                <a:solidFill>
                  <a:srgbClr val="64748B"/>
                </a:solidFill>
                <a:latin typeface="DM Sans"/>
                <a:ea typeface="DM Sans"/>
                <a:cs typeface="DM Sans"/>
                <a:sym typeface="DM Sans"/>
              </a:rPr>
              <a:t>A quiet, tragic portrait of a scholar.</a:t>
            </a:r>
            <a:endParaRPr/>
          </a:p>
        </p:txBody>
      </p:sp>
      <p:sp>
        <p:nvSpPr>
          <p:cNvPr id="147" name="Google Shape;147;p17"/>
          <p:cNvSpPr txBox="1"/>
          <p:nvPr/>
        </p:nvSpPr>
        <p:spPr>
          <a:xfrm>
            <a:off x="6179622" y="3557736"/>
            <a:ext cx="2663614"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1E3A8A"/>
                </a:solidFill>
                <a:latin typeface="Merriweather"/>
                <a:ea typeface="Merriweather"/>
                <a:cs typeface="Merriweather"/>
                <a:sym typeface="Merriweather"/>
              </a:rPr>
              <a:t>1992</a:t>
            </a:r>
            <a:endParaRPr/>
          </a:p>
        </p:txBody>
      </p:sp>
      <p:sp>
        <p:nvSpPr>
          <p:cNvPr id="148" name="Google Shape;148;p17"/>
          <p:cNvSpPr txBox="1"/>
          <p:nvPr/>
        </p:nvSpPr>
        <p:spPr>
          <a:xfrm>
            <a:off x="6243042" y="3976836"/>
            <a:ext cx="2536775"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1" i="0" u="none" strike="noStrike" cap="none">
                <a:solidFill>
                  <a:srgbClr val="64748B"/>
                </a:solidFill>
                <a:latin typeface="DM Sans"/>
                <a:ea typeface="DM Sans"/>
                <a:cs typeface="DM Sans"/>
                <a:sym typeface="DM Sans"/>
              </a:rPr>
              <a:t>The Secret History</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64748B"/>
                </a:solidFill>
                <a:latin typeface="DM Sans"/>
                <a:ea typeface="DM Sans"/>
                <a:cs typeface="DM Sans"/>
                <a:sym typeface="DM Sans"/>
              </a:rPr>
              <a:t>Donna Tartt</a:t>
            </a:r>
            <a:endParaRPr/>
          </a:p>
        </p:txBody>
      </p:sp>
      <p:sp>
        <p:nvSpPr>
          <p:cNvPr id="149" name="Google Shape;149;p17"/>
          <p:cNvSpPr txBox="1"/>
          <p:nvPr/>
        </p:nvSpPr>
        <p:spPr>
          <a:xfrm>
            <a:off x="6243042" y="4616797"/>
            <a:ext cx="2536775" cy="213270"/>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050" b="0" i="0" u="none" strike="noStrike" cap="none">
                <a:solidFill>
                  <a:srgbClr val="64748B"/>
                </a:solidFill>
                <a:latin typeface="DM Sans"/>
                <a:ea typeface="DM Sans"/>
                <a:cs typeface="DM Sans"/>
                <a:sym typeface="DM Sans"/>
              </a:rPr>
              <a:t>Dark academia and corruption.</a:t>
            </a:r>
            <a:endParaRPr/>
          </a:p>
        </p:txBody>
      </p:sp>
      <p:sp>
        <p:nvSpPr>
          <p:cNvPr id="150" name="Google Shape;150;p17"/>
          <p:cNvSpPr txBox="1"/>
          <p:nvPr/>
        </p:nvSpPr>
        <p:spPr>
          <a:xfrm>
            <a:off x="9010631" y="3557736"/>
            <a:ext cx="2663614"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1E3A8A"/>
                </a:solidFill>
                <a:latin typeface="Merriweather"/>
                <a:ea typeface="Merriweather"/>
                <a:cs typeface="Merriweather"/>
                <a:sym typeface="Merriweather"/>
              </a:rPr>
              <a:t>2000</a:t>
            </a:r>
            <a:endParaRPr/>
          </a:p>
        </p:txBody>
      </p:sp>
      <p:sp>
        <p:nvSpPr>
          <p:cNvPr id="151" name="Google Shape;151;p17"/>
          <p:cNvSpPr txBox="1"/>
          <p:nvPr/>
        </p:nvSpPr>
        <p:spPr>
          <a:xfrm>
            <a:off x="9074050" y="3976836"/>
            <a:ext cx="2536775" cy="487560"/>
          </a:xfrm>
          <a:prstGeom prst="rect">
            <a:avLst/>
          </a:prstGeom>
          <a:noFill/>
          <a:ln>
            <a:noFill/>
          </a:ln>
        </p:spPr>
        <p:txBody>
          <a:bodyPr spcFirstLastPara="1" wrap="square" lIns="0" tIns="0" rIns="0" bIns="0" anchor="t" anchorCtr="0">
            <a:spAutoFit/>
          </a:bodyPr>
          <a:lstStyle/>
          <a:p>
            <a:pPr marL="0" marR="0" lvl="0" indent="0" algn="ctr" rtl="0">
              <a:lnSpc>
                <a:spcPct val="106666"/>
              </a:lnSpc>
              <a:spcBef>
                <a:spcPts val="0"/>
              </a:spcBef>
              <a:spcAft>
                <a:spcPts val="0"/>
              </a:spcAft>
              <a:buNone/>
            </a:pPr>
            <a:r>
              <a:rPr lang="en-US" sz="1200" b="1" i="0" u="none" strike="noStrike" cap="none">
                <a:solidFill>
                  <a:srgbClr val="64748B"/>
                </a:solidFill>
                <a:latin typeface="DM Sans"/>
                <a:ea typeface="DM Sans"/>
                <a:cs typeface="DM Sans"/>
                <a:sym typeface="DM Sans"/>
              </a:rPr>
              <a:t>The Human Stain</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64748B"/>
                </a:solidFill>
                <a:latin typeface="DM Sans"/>
                <a:ea typeface="DM Sans"/>
                <a:cs typeface="DM Sans"/>
                <a:sym typeface="DM Sans"/>
              </a:rPr>
              <a:t>Philip Roth</a:t>
            </a:r>
            <a:endParaRPr/>
          </a:p>
        </p:txBody>
      </p:sp>
      <p:sp>
        <p:nvSpPr>
          <p:cNvPr id="152" name="Google Shape;152;p17"/>
          <p:cNvSpPr txBox="1"/>
          <p:nvPr/>
        </p:nvSpPr>
        <p:spPr>
          <a:xfrm>
            <a:off x="9074050" y="4616797"/>
            <a:ext cx="2536775" cy="213270"/>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050" b="0" i="0" u="none" strike="noStrike" cap="none">
                <a:solidFill>
                  <a:srgbClr val="64748B"/>
                </a:solidFill>
                <a:latin typeface="DM Sans"/>
                <a:ea typeface="DM Sans"/>
                <a:cs typeface="DM Sans"/>
                <a:sym typeface="DM Sans"/>
              </a:rPr>
              <a:t>Identity politics and culture wars.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3">
            <a:alphaModFix/>
          </a:blip>
          <a:srcRect/>
          <a:stretch/>
        </p:blipFill>
        <p:spPr>
          <a:xfrm>
            <a:off x="581025" y="581025"/>
            <a:ext cx="11029950" cy="5695950"/>
          </a:xfrm>
          <a:prstGeom prst="rect">
            <a:avLst/>
          </a:prstGeom>
          <a:noFill/>
          <a:ln>
            <a:noFill/>
          </a:ln>
        </p:spPr>
      </p:pic>
      <p:sp>
        <p:nvSpPr>
          <p:cNvPr id="158" name="Google Shape;158;p18"/>
          <p:cNvSpPr txBox="1"/>
          <p:nvPr/>
        </p:nvSpPr>
        <p:spPr>
          <a:xfrm>
            <a:off x="2150506" y="2307877"/>
            <a:ext cx="7890986"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1E3A8A"/>
                </a:solidFill>
                <a:latin typeface="Merriweather"/>
                <a:ea typeface="Merriweather"/>
                <a:cs typeface="Merriweather"/>
                <a:sym typeface="Merriweather"/>
              </a:rPr>
              <a:t>The Indian Context</a:t>
            </a:r>
            <a:endParaRPr dirty="0"/>
          </a:p>
        </p:txBody>
      </p:sp>
      <p:sp>
        <p:nvSpPr>
          <p:cNvPr id="159" name="Google Shape;159;p18"/>
          <p:cNvSpPr/>
          <p:nvPr/>
        </p:nvSpPr>
        <p:spPr>
          <a:xfrm>
            <a:off x="5619750" y="3403252"/>
            <a:ext cx="952500" cy="381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3862387" y="3955702"/>
            <a:ext cx="4467225"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i="1" dirty="0">
                <a:solidFill>
                  <a:srgbClr val="64748B"/>
                </a:solidFill>
                <a:latin typeface="DM Sans"/>
                <a:ea typeface="DM Sans"/>
                <a:cs typeface="DM Sans"/>
                <a:sym typeface="DM Sans"/>
              </a:rPr>
              <a:t>From University Politics</a:t>
            </a:r>
            <a:r>
              <a:rPr lang="en-US" sz="1800" b="0" i="1" u="none" strike="noStrike" cap="none" dirty="0">
                <a:solidFill>
                  <a:srgbClr val="64748B"/>
                </a:solidFill>
                <a:latin typeface="DM Sans"/>
                <a:ea typeface="DM Sans"/>
                <a:cs typeface="DM Sans"/>
                <a:sym typeface="DM Sans"/>
              </a:rPr>
              <a:t> to the IIT Dream</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4"/>
        <p:cNvGrpSpPr/>
        <p:nvPr/>
      </p:nvGrpSpPr>
      <p:grpSpPr>
        <a:xfrm>
          <a:off x="0" y="0"/>
          <a:ext cx="0" cy="0"/>
          <a:chOff x="0" y="0"/>
          <a:chExt cx="0" cy="0"/>
        </a:xfrm>
      </p:grpSpPr>
      <p:sp>
        <p:nvSpPr>
          <p:cNvPr id="166" name="Google Shape;166;p19"/>
          <p:cNvSpPr txBox="1"/>
          <p:nvPr/>
        </p:nvSpPr>
        <p:spPr>
          <a:xfrm>
            <a:off x="581025" y="481012"/>
            <a:ext cx="11581447"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1E3A8A"/>
                </a:solidFill>
                <a:latin typeface="Merriweather"/>
                <a:ea typeface="Merriweather"/>
                <a:cs typeface="Merriweather"/>
                <a:sym typeface="Merriweather"/>
              </a:rPr>
              <a:t>The University Novel</a:t>
            </a:r>
            <a:endParaRPr dirty="0"/>
          </a:p>
        </p:txBody>
      </p:sp>
      <p:sp>
        <p:nvSpPr>
          <p:cNvPr id="167" name="Google Shape;167;p19"/>
          <p:cNvSpPr/>
          <p:nvPr/>
        </p:nvSpPr>
        <p:spPr>
          <a:xfrm>
            <a:off x="581025" y="1119187"/>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9"/>
          <p:cNvSpPr txBox="1"/>
          <p:nvPr/>
        </p:nvSpPr>
        <p:spPr>
          <a:xfrm>
            <a:off x="581025" y="1709737"/>
            <a:ext cx="52292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34155"/>
                </a:solidFill>
                <a:latin typeface="DM Sans"/>
                <a:ea typeface="DM Sans"/>
                <a:cs typeface="DM Sans"/>
                <a:sym typeface="DM Sans"/>
              </a:rPr>
              <a:t>Before the engineering boom, Indian campus fiction focused on the liberal arts experience, grappling with colonial identity, caste politics, and student activism.</a:t>
            </a:r>
            <a:endParaRPr dirty="0"/>
          </a:p>
        </p:txBody>
      </p:sp>
      <p:sp>
        <p:nvSpPr>
          <p:cNvPr id="169" name="Google Shape;169;p19"/>
          <p:cNvSpPr txBox="1"/>
          <p:nvPr/>
        </p:nvSpPr>
        <p:spPr>
          <a:xfrm>
            <a:off x="819150" y="2814637"/>
            <a:ext cx="499110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1" u="none" strike="noStrike" cap="none" dirty="0">
                <a:solidFill>
                  <a:srgbClr val="0F172A"/>
                </a:solidFill>
                <a:latin typeface="DM Sans"/>
                <a:ea typeface="DM Sans"/>
                <a:cs typeface="DM Sans"/>
                <a:sym typeface="DM Sans"/>
              </a:rPr>
              <a:t>The Bachelor of Arts </a:t>
            </a:r>
            <a:r>
              <a:rPr lang="en-US" sz="1500" b="1" i="0" u="none" strike="noStrike" cap="none" dirty="0">
                <a:solidFill>
                  <a:srgbClr val="0F172A"/>
                </a:solidFill>
                <a:latin typeface="DM Sans"/>
                <a:ea typeface="DM Sans"/>
                <a:cs typeface="DM Sans"/>
                <a:sym typeface="DM Sans"/>
              </a:rPr>
              <a:t>(1937):</a:t>
            </a:r>
            <a:r>
              <a:rPr lang="en-US" sz="1500" b="0" i="0" u="none" strike="noStrike" cap="none" dirty="0">
                <a:solidFill>
                  <a:srgbClr val="334155"/>
                </a:solidFill>
                <a:latin typeface="DM Sans"/>
                <a:ea typeface="DM Sans"/>
                <a:cs typeface="DM Sans"/>
                <a:sym typeface="DM Sans"/>
              </a:rPr>
              <a:t> R.K. Narayan’s classic tale of Chandran, whose post-graduation wanderings explore the tension between Western education and traditional Indian life.</a:t>
            </a:r>
            <a:endParaRPr dirty="0"/>
          </a:p>
        </p:txBody>
      </p:sp>
      <p:sp>
        <p:nvSpPr>
          <p:cNvPr id="170" name="Google Shape;170;p19"/>
          <p:cNvSpPr txBox="1"/>
          <p:nvPr/>
        </p:nvSpPr>
        <p:spPr>
          <a:xfrm>
            <a:off x="819150" y="4205287"/>
            <a:ext cx="49911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1" u="none" strike="noStrike" cap="none" dirty="0">
                <a:solidFill>
                  <a:srgbClr val="0F172A"/>
                </a:solidFill>
                <a:latin typeface="DM Sans"/>
                <a:ea typeface="DM Sans"/>
                <a:cs typeface="DM Sans"/>
                <a:sym typeface="DM Sans"/>
              </a:rPr>
              <a:t>No Onions Nor Garlic </a:t>
            </a:r>
            <a:r>
              <a:rPr lang="en-US" sz="1500" b="1" i="0" u="none" strike="noStrike" cap="none" dirty="0">
                <a:solidFill>
                  <a:srgbClr val="0F172A"/>
                </a:solidFill>
                <a:latin typeface="DM Sans"/>
                <a:ea typeface="DM Sans"/>
                <a:cs typeface="DM Sans"/>
                <a:sym typeface="DM Sans"/>
              </a:rPr>
              <a:t>(2006):</a:t>
            </a:r>
            <a:r>
              <a:rPr lang="en-US" sz="1500" b="0" i="0" u="none" strike="noStrike" cap="none" dirty="0">
                <a:solidFill>
                  <a:srgbClr val="334155"/>
                </a:solidFill>
                <a:latin typeface="DM Sans"/>
                <a:ea typeface="DM Sans"/>
                <a:cs typeface="DM Sans"/>
                <a:sym typeface="DM Sans"/>
              </a:rPr>
              <a:t> Srividya Natarajan's sharp satire of a Chennai university English department, exposing deep-seated caste prejudice in academia.</a:t>
            </a:r>
            <a:endParaRPr dirty="0"/>
          </a:p>
        </p:txBody>
      </p:sp>
      <p:sp>
        <p:nvSpPr>
          <p:cNvPr id="171" name="Google Shape;171;p19"/>
          <p:cNvSpPr txBox="1"/>
          <p:nvPr/>
        </p:nvSpPr>
        <p:spPr>
          <a:xfrm>
            <a:off x="819150" y="5291137"/>
            <a:ext cx="49911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1" u="none" strike="noStrike" cap="none" dirty="0">
                <a:solidFill>
                  <a:srgbClr val="0F172A"/>
                </a:solidFill>
                <a:latin typeface="DM Sans"/>
                <a:ea typeface="DM Sans"/>
                <a:cs typeface="DM Sans"/>
                <a:sym typeface="DM Sans"/>
              </a:rPr>
              <a:t>Up Campus, Down Campus </a:t>
            </a:r>
            <a:r>
              <a:rPr lang="en-US" sz="1500" b="1" i="0" u="none" strike="noStrike" cap="none" dirty="0">
                <a:solidFill>
                  <a:srgbClr val="0F172A"/>
                </a:solidFill>
                <a:latin typeface="DM Sans"/>
                <a:ea typeface="DM Sans"/>
                <a:cs typeface="DM Sans"/>
                <a:sym typeface="DM Sans"/>
              </a:rPr>
              <a:t>(2009):</a:t>
            </a:r>
            <a:r>
              <a:rPr lang="en-US" sz="1500" b="0" i="0" u="none" strike="noStrike" cap="none" dirty="0">
                <a:solidFill>
                  <a:srgbClr val="334155"/>
                </a:solidFill>
                <a:latin typeface="DM Sans"/>
                <a:ea typeface="DM Sans"/>
                <a:cs typeface="DM Sans"/>
                <a:sym typeface="DM Sans"/>
              </a:rPr>
              <a:t> </a:t>
            </a:r>
            <a:r>
              <a:rPr lang="en-US" sz="1500" dirty="0">
                <a:solidFill>
                  <a:srgbClr val="334155"/>
                </a:solidFill>
                <a:latin typeface="DM Sans"/>
                <a:ea typeface="DM Sans"/>
                <a:cs typeface="DM Sans"/>
                <a:sym typeface="DM Sans"/>
              </a:rPr>
              <a:t>C</a:t>
            </a:r>
            <a:r>
              <a:rPr lang="en-US" sz="1500" b="0" i="0" u="none" strike="noStrike" cap="none" dirty="0">
                <a:solidFill>
                  <a:srgbClr val="334155"/>
                </a:solidFill>
                <a:latin typeface="DM Sans"/>
                <a:ea typeface="DM Sans"/>
                <a:cs typeface="DM Sans"/>
                <a:sym typeface="DM Sans"/>
              </a:rPr>
              <a:t>aptures the politically charged atmosphere of JNU, where ideology and romance intertwine.</a:t>
            </a:r>
            <a:endParaRPr dirty="0"/>
          </a:p>
        </p:txBody>
      </p:sp>
      <p:pic>
        <p:nvPicPr>
          <p:cNvPr id="172" name="Google Shape;172;p19" descr="image.png"/>
          <p:cNvPicPr preferRelativeResize="0"/>
          <p:nvPr/>
        </p:nvPicPr>
        <p:blipFill rotWithShape="1">
          <a:blip r:embed="rId3">
            <a:alphaModFix/>
          </a:blip>
          <a:srcRect/>
          <a:stretch/>
        </p:blipFill>
        <p:spPr>
          <a:xfrm>
            <a:off x="7853213" y="2148036"/>
            <a:ext cx="2286148" cy="3600152"/>
          </a:xfrm>
          <a:prstGeom prst="rect">
            <a:avLst/>
          </a:prstGeom>
          <a:noFill/>
          <a:ln>
            <a:noFill/>
          </a:ln>
        </p:spPr>
      </p:pic>
      <p:sp>
        <p:nvSpPr>
          <p:cNvPr id="173" name="Google Shape;173;p19"/>
          <p:cNvSpPr txBox="1"/>
          <p:nvPr/>
        </p:nvSpPr>
        <p:spPr>
          <a:xfrm>
            <a:off x="581025" y="279558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74" name="Google Shape;174;p19"/>
          <p:cNvSpPr txBox="1"/>
          <p:nvPr/>
        </p:nvSpPr>
        <p:spPr>
          <a:xfrm>
            <a:off x="581025" y="418623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75" name="Google Shape;175;p19"/>
          <p:cNvSpPr txBox="1"/>
          <p:nvPr/>
        </p:nvSpPr>
        <p:spPr>
          <a:xfrm>
            <a:off x="581025" y="527208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pic>
        <p:nvPicPr>
          <p:cNvPr id="180" name="Google Shape;180;p20" descr="image.png"/>
          <p:cNvPicPr preferRelativeResize="0"/>
          <p:nvPr/>
        </p:nvPicPr>
        <p:blipFill rotWithShape="1">
          <a:blip r:embed="rId3">
            <a:alphaModFix/>
          </a:blip>
          <a:srcRect/>
          <a:stretch/>
        </p:blipFill>
        <p:spPr>
          <a:xfrm>
            <a:off x="9525" y="233362"/>
            <a:ext cx="6086475" cy="6457950"/>
          </a:xfrm>
          <a:prstGeom prst="rect">
            <a:avLst/>
          </a:prstGeom>
          <a:noFill/>
          <a:ln>
            <a:noFill/>
          </a:ln>
        </p:spPr>
      </p:pic>
      <p:sp>
        <p:nvSpPr>
          <p:cNvPr id="181" name="Google Shape;181;p20"/>
          <p:cNvSpPr txBox="1"/>
          <p:nvPr/>
        </p:nvSpPr>
        <p:spPr>
          <a:xfrm>
            <a:off x="771525" y="995362"/>
            <a:ext cx="4790598" cy="990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Merriweather"/>
                <a:ea typeface="Merriweather"/>
                <a:cs typeface="Merriweather"/>
                <a:sym typeface="Merriweather"/>
              </a:rPr>
              <a:t>The Rise of the "IIT Novel"</a:t>
            </a:r>
            <a:endParaRPr/>
          </a:p>
        </p:txBody>
      </p:sp>
      <p:sp>
        <p:nvSpPr>
          <p:cNvPr id="182" name="Google Shape;182;p20"/>
          <p:cNvSpPr txBox="1"/>
          <p:nvPr/>
        </p:nvSpPr>
        <p:spPr>
          <a:xfrm>
            <a:off x="771525" y="2414587"/>
            <a:ext cx="45624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DM Sans"/>
                <a:ea typeface="DM Sans"/>
                <a:cs typeface="DM Sans"/>
                <a:sym typeface="DM Sans"/>
              </a:rPr>
              <a:t>Post-liberalization India saw a shift from the reflective, colonial-era narratives to the high-pressure world of technical education.</a:t>
            </a:r>
            <a:endParaRPr/>
          </a:p>
        </p:txBody>
      </p:sp>
      <p:sp>
        <p:nvSpPr>
          <p:cNvPr id="183" name="Google Shape;183;p20"/>
          <p:cNvSpPr txBox="1"/>
          <p:nvPr/>
        </p:nvSpPr>
        <p:spPr>
          <a:xfrm>
            <a:off x="771525" y="3910012"/>
            <a:ext cx="4562475"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E2E8F0"/>
                </a:solidFill>
                <a:latin typeface="DM Sans"/>
                <a:ea typeface="DM Sans"/>
                <a:cs typeface="DM Sans"/>
                <a:sym typeface="DM Sans"/>
              </a:rPr>
              <a:t>The Turning Point:</a:t>
            </a:r>
            <a:r>
              <a:rPr lang="en-US" sz="1500" b="0" i="0" u="none" strike="noStrike" cap="none">
                <a:solidFill>
                  <a:srgbClr val="E2E8F0"/>
                </a:solidFill>
                <a:latin typeface="DM Sans"/>
                <a:ea typeface="DM Sans"/>
                <a:cs typeface="DM Sans"/>
                <a:sym typeface="DM Sans"/>
              </a:rPr>
              <a:t> Chetan Bhagat's </a:t>
            </a:r>
            <a:r>
              <a:rPr lang="en-US" sz="1500" b="0" i="1" u="none" strike="noStrike" cap="none">
                <a:solidFill>
                  <a:srgbClr val="E2E8F0"/>
                </a:solidFill>
                <a:latin typeface="DM Sans"/>
                <a:ea typeface="DM Sans"/>
                <a:cs typeface="DM Sans"/>
                <a:sym typeface="DM Sans"/>
              </a:rPr>
              <a:t>Five Point Someone</a:t>
            </a:r>
            <a:r>
              <a:rPr lang="en-US" sz="1500" b="0" i="0" u="none" strike="noStrike" cap="none">
                <a:solidFill>
                  <a:srgbClr val="E2E8F0"/>
                </a:solidFill>
                <a:latin typeface="DM Sans"/>
                <a:ea typeface="DM Sans"/>
                <a:cs typeface="DM Sans"/>
                <a:sym typeface="DM Sans"/>
              </a:rPr>
              <a:t> (2004) democratized the genre, focusing on the average student's struggle within an elite system. This spawned a sub-genre dealing with entrance exams, hostel life, and the "engineering dream."</a:t>
            </a:r>
            <a:endParaRPr/>
          </a:p>
        </p:txBody>
      </p:sp>
      <p:pic>
        <p:nvPicPr>
          <p:cNvPr id="184" name="Google Shape;184;p20" descr="image.png"/>
          <p:cNvPicPr preferRelativeResize="0"/>
          <p:nvPr/>
        </p:nvPicPr>
        <p:blipFill rotWithShape="1">
          <a:blip r:embed="rId4">
            <a:alphaModFix/>
          </a:blip>
          <a:srcRect/>
          <a:stretch/>
        </p:blipFill>
        <p:spPr>
          <a:xfrm>
            <a:off x="6096000" y="9525"/>
            <a:ext cx="6086475"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88"/>
        <p:cNvGrpSpPr/>
        <p:nvPr/>
      </p:nvGrpSpPr>
      <p:grpSpPr>
        <a:xfrm>
          <a:off x="0" y="0"/>
          <a:ext cx="0" cy="0"/>
          <a:chOff x="0" y="0"/>
          <a:chExt cx="0" cy="0"/>
        </a:xfrm>
      </p:grpSpPr>
      <p:sp>
        <p:nvSpPr>
          <p:cNvPr id="189" name="Google Shape;189;p21"/>
          <p:cNvSpPr txBox="1"/>
          <p:nvPr/>
        </p:nvSpPr>
        <p:spPr>
          <a:xfrm>
            <a:off x="581025" y="581025"/>
            <a:ext cx="11581447"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1E3A8A"/>
                </a:solidFill>
                <a:latin typeface="Merriweather"/>
                <a:ea typeface="Merriweather"/>
                <a:cs typeface="Merriweather"/>
                <a:sym typeface="Merriweather"/>
              </a:rPr>
              <a:t>Distinctive Features of IIT Campus Fiction</a:t>
            </a:r>
            <a:endParaRPr dirty="0"/>
          </a:p>
        </p:txBody>
      </p:sp>
      <p:sp>
        <p:nvSpPr>
          <p:cNvPr id="190" name="Google Shape;190;p21"/>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21"/>
          <p:cNvSpPr txBox="1"/>
          <p:nvPr/>
        </p:nvSpPr>
        <p:spPr>
          <a:xfrm>
            <a:off x="1571625" y="2386012"/>
            <a:ext cx="9286875"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0F172A"/>
                </a:solidFill>
                <a:latin typeface="DM Sans"/>
                <a:ea typeface="DM Sans"/>
                <a:cs typeface="DM Sans"/>
                <a:sym typeface="DM Sans"/>
              </a:rPr>
              <a:t>The Pressure Cooker:</a:t>
            </a:r>
            <a:r>
              <a:rPr lang="en-US" sz="1500" b="0" i="0" u="none" strike="noStrike" cap="none" dirty="0">
                <a:solidFill>
                  <a:srgbClr val="334155"/>
                </a:solidFill>
                <a:latin typeface="DM Sans"/>
                <a:ea typeface="DM Sans"/>
                <a:cs typeface="DM Sans"/>
                <a:sym typeface="DM Sans"/>
              </a:rPr>
              <a:t> Unlike the leisurely pace of Western liberal arts novels, </a:t>
            </a:r>
            <a:r>
              <a:rPr lang="en-US" sz="1500" dirty="0">
                <a:solidFill>
                  <a:srgbClr val="334155"/>
                </a:solidFill>
                <a:latin typeface="DM Sans"/>
                <a:ea typeface="DM Sans"/>
                <a:cs typeface="DM Sans"/>
                <a:sym typeface="DM Sans"/>
              </a:rPr>
              <a:t>IIT</a:t>
            </a:r>
            <a:r>
              <a:rPr lang="en-US" sz="1500" b="0" i="0" u="none" strike="noStrike" cap="none" dirty="0">
                <a:solidFill>
                  <a:srgbClr val="334155"/>
                </a:solidFill>
                <a:latin typeface="DM Sans"/>
                <a:ea typeface="DM Sans"/>
                <a:cs typeface="DM Sans"/>
                <a:sym typeface="DM Sans"/>
              </a:rPr>
              <a:t> fiction often centers on the grueling pressure of competitive exams.</a:t>
            </a:r>
            <a:endParaRPr dirty="0"/>
          </a:p>
        </p:txBody>
      </p:sp>
      <p:sp>
        <p:nvSpPr>
          <p:cNvPr id="192" name="Google Shape;192;p21"/>
          <p:cNvSpPr txBox="1"/>
          <p:nvPr/>
        </p:nvSpPr>
        <p:spPr>
          <a:xfrm>
            <a:off x="1571625" y="3167062"/>
            <a:ext cx="9286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0F172A"/>
                </a:solidFill>
                <a:latin typeface="DM Sans"/>
                <a:ea typeface="DM Sans"/>
                <a:cs typeface="DM Sans"/>
                <a:sym typeface="DM Sans"/>
              </a:rPr>
              <a:t>Parental Aspiration:</a:t>
            </a:r>
            <a:r>
              <a:rPr lang="en-US" sz="1500" b="0" i="0" u="none" strike="noStrike" cap="none" dirty="0">
                <a:solidFill>
                  <a:srgbClr val="334155"/>
                </a:solidFill>
                <a:latin typeface="DM Sans"/>
                <a:ea typeface="DM Sans"/>
                <a:cs typeface="DM Sans"/>
                <a:sym typeface="DM Sans"/>
              </a:rPr>
              <a:t> The student carries the weight of middle-class family expectations, making failure a catastrophic social event.</a:t>
            </a:r>
            <a:endParaRPr dirty="0"/>
          </a:p>
        </p:txBody>
      </p:sp>
      <p:sp>
        <p:nvSpPr>
          <p:cNvPr id="193" name="Google Shape;193;p21"/>
          <p:cNvSpPr txBox="1"/>
          <p:nvPr/>
        </p:nvSpPr>
        <p:spPr>
          <a:xfrm>
            <a:off x="1571625" y="3948112"/>
            <a:ext cx="9286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Language &amp; Vernacular:</a:t>
            </a:r>
            <a:r>
              <a:rPr lang="en-US" sz="1500" b="0" i="0" u="none" strike="noStrike" cap="none">
                <a:solidFill>
                  <a:srgbClr val="334155"/>
                </a:solidFill>
                <a:latin typeface="DM Sans"/>
                <a:ea typeface="DM Sans"/>
                <a:cs typeface="DM Sans"/>
                <a:sym typeface="DM Sans"/>
              </a:rPr>
              <a:t> The use of "Hinglish" and campus slang to capture the authentic voice of the youth.</a:t>
            </a:r>
            <a:endParaRPr/>
          </a:p>
        </p:txBody>
      </p:sp>
      <p:sp>
        <p:nvSpPr>
          <p:cNvPr id="194" name="Google Shape;194;p21"/>
          <p:cNvSpPr txBox="1"/>
          <p:nvPr/>
        </p:nvSpPr>
        <p:spPr>
          <a:xfrm>
            <a:off x="1571625" y="4729162"/>
            <a:ext cx="92868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Ragging &amp; Hierarchy:</a:t>
            </a:r>
            <a:r>
              <a:rPr lang="en-US" sz="1500" b="0" i="0" u="none" strike="noStrike" cap="none">
                <a:solidFill>
                  <a:srgbClr val="334155"/>
                </a:solidFill>
                <a:latin typeface="DM Sans"/>
                <a:ea typeface="DM Sans"/>
                <a:cs typeface="DM Sans"/>
                <a:sym typeface="DM Sans"/>
              </a:rPr>
              <a:t> Exploring the sometimes brutal power dynamics between seniors and juniors in hostel life.</a:t>
            </a:r>
            <a:endParaRPr/>
          </a:p>
        </p:txBody>
      </p:sp>
      <p:sp>
        <p:nvSpPr>
          <p:cNvPr id="195" name="Google Shape;195;p21"/>
          <p:cNvSpPr txBox="1"/>
          <p:nvPr/>
        </p:nvSpPr>
        <p:spPr>
          <a:xfrm>
            <a:off x="1333500" y="236696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96" name="Google Shape;196;p21"/>
          <p:cNvSpPr txBox="1"/>
          <p:nvPr/>
        </p:nvSpPr>
        <p:spPr>
          <a:xfrm>
            <a:off x="1333500" y="314801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97" name="Google Shape;197;p21"/>
          <p:cNvSpPr txBox="1"/>
          <p:nvPr/>
        </p:nvSpPr>
        <p:spPr>
          <a:xfrm>
            <a:off x="1333500" y="392906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98" name="Google Shape;198;p21"/>
          <p:cNvSpPr txBox="1"/>
          <p:nvPr/>
        </p:nvSpPr>
        <p:spPr>
          <a:xfrm>
            <a:off x="1333500" y="4710112"/>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02"/>
        <p:cNvGrpSpPr/>
        <p:nvPr/>
      </p:nvGrpSpPr>
      <p:grpSpPr>
        <a:xfrm>
          <a:off x="0" y="0"/>
          <a:ext cx="0" cy="0"/>
          <a:chOff x="0" y="0"/>
          <a:chExt cx="0" cy="0"/>
        </a:xfrm>
      </p:grpSpPr>
      <p:pic>
        <p:nvPicPr>
          <p:cNvPr id="203" name="Google Shape;203;p22" descr="image.png"/>
          <p:cNvPicPr preferRelativeResize="0"/>
          <p:nvPr/>
        </p:nvPicPr>
        <p:blipFill rotWithShape="1">
          <a:blip r:embed="rId3">
            <a:alphaModFix/>
          </a:blip>
          <a:srcRect/>
          <a:stretch/>
        </p:blipFill>
        <p:spPr>
          <a:xfrm>
            <a:off x="581025" y="581025"/>
            <a:ext cx="11029950" cy="5695950"/>
          </a:xfrm>
          <a:prstGeom prst="rect">
            <a:avLst/>
          </a:prstGeom>
          <a:noFill/>
          <a:ln>
            <a:noFill/>
          </a:ln>
        </p:spPr>
      </p:pic>
      <p:sp>
        <p:nvSpPr>
          <p:cNvPr id="204" name="Google Shape;204;p22"/>
          <p:cNvSpPr txBox="1"/>
          <p:nvPr/>
        </p:nvSpPr>
        <p:spPr>
          <a:xfrm>
            <a:off x="3280647" y="1842162"/>
            <a:ext cx="5630703" cy="207749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dirty="0">
                <a:solidFill>
                  <a:srgbClr val="1E3A8A"/>
                </a:solidFill>
                <a:latin typeface="Merriweather"/>
                <a:sym typeface="Merriweather"/>
              </a:rPr>
              <a:t>Amitabha Bagchi’s </a:t>
            </a:r>
            <a:r>
              <a:rPr lang="en-US" sz="4500" b="1" i="1" dirty="0">
                <a:solidFill>
                  <a:srgbClr val="1E3A8A"/>
                </a:solidFill>
                <a:latin typeface="Merriweather"/>
                <a:sym typeface="Merriweather"/>
              </a:rPr>
              <a:t>Above Average </a:t>
            </a:r>
            <a:r>
              <a:rPr lang="en-US" sz="4500" b="1" dirty="0">
                <a:solidFill>
                  <a:srgbClr val="1E3A8A"/>
                </a:solidFill>
                <a:latin typeface="Merriweather"/>
                <a:sym typeface="Merriweather"/>
              </a:rPr>
              <a:t>(2007)</a:t>
            </a:r>
            <a:endParaRPr i="1" dirty="0"/>
          </a:p>
        </p:txBody>
      </p:sp>
      <p:sp>
        <p:nvSpPr>
          <p:cNvPr id="205" name="Google Shape;205;p22"/>
          <p:cNvSpPr/>
          <p:nvPr/>
        </p:nvSpPr>
        <p:spPr>
          <a:xfrm>
            <a:off x="5619749" y="4613073"/>
            <a:ext cx="952500" cy="381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10"/>
        <p:cNvGrpSpPr/>
        <p:nvPr/>
      </p:nvGrpSpPr>
      <p:grpSpPr>
        <a:xfrm>
          <a:off x="0" y="0"/>
          <a:ext cx="0" cy="0"/>
          <a:chOff x="0" y="0"/>
          <a:chExt cx="0" cy="0"/>
        </a:xfrm>
      </p:grpSpPr>
      <p:sp>
        <p:nvSpPr>
          <p:cNvPr id="212" name="Google Shape;212;p23"/>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E3A8A"/>
                </a:solidFill>
                <a:latin typeface="Merriweather"/>
                <a:ea typeface="Merriweather"/>
                <a:cs typeface="Merriweather"/>
                <a:sym typeface="Merriweather"/>
              </a:rPr>
              <a:t>Introduction to the Text</a:t>
            </a:r>
            <a:endParaRPr/>
          </a:p>
        </p:txBody>
      </p:sp>
      <p:sp>
        <p:nvSpPr>
          <p:cNvPr id="213" name="Google Shape;213;p23"/>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3"/>
          <p:cNvSpPr txBox="1"/>
          <p:nvPr/>
        </p:nvSpPr>
        <p:spPr>
          <a:xfrm>
            <a:off x="819150" y="2147887"/>
            <a:ext cx="49911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Author:</a:t>
            </a:r>
            <a:r>
              <a:rPr lang="en-US" sz="1500" b="0" i="0" u="none" strike="noStrike" cap="none">
                <a:solidFill>
                  <a:srgbClr val="334155"/>
                </a:solidFill>
                <a:latin typeface="DM Sans"/>
                <a:ea typeface="DM Sans"/>
                <a:cs typeface="DM Sans"/>
                <a:sym typeface="DM Sans"/>
              </a:rPr>
              <a:t> Amitabha Bagchi (IIT Delhi alumnus).</a:t>
            </a:r>
            <a:endParaRPr/>
          </a:p>
        </p:txBody>
      </p:sp>
      <p:sp>
        <p:nvSpPr>
          <p:cNvPr id="215" name="Google Shape;215;p23"/>
          <p:cNvSpPr txBox="1"/>
          <p:nvPr/>
        </p:nvSpPr>
        <p:spPr>
          <a:xfrm>
            <a:off x="819150" y="2624137"/>
            <a:ext cx="49911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Publication:</a:t>
            </a:r>
            <a:r>
              <a:rPr lang="en-US" sz="1500" b="0" i="0" u="none" strike="noStrike" cap="none">
                <a:solidFill>
                  <a:srgbClr val="334155"/>
                </a:solidFill>
                <a:latin typeface="DM Sans"/>
                <a:ea typeface="DM Sans"/>
                <a:cs typeface="DM Sans"/>
                <a:sym typeface="DM Sans"/>
              </a:rPr>
              <a:t> 2007, HarperCollins India.</a:t>
            </a:r>
            <a:endParaRPr/>
          </a:p>
        </p:txBody>
      </p:sp>
      <p:sp>
        <p:nvSpPr>
          <p:cNvPr id="216" name="Google Shape;216;p23"/>
          <p:cNvSpPr txBox="1"/>
          <p:nvPr/>
        </p:nvSpPr>
        <p:spPr>
          <a:xfrm>
            <a:off x="819150" y="3100387"/>
            <a:ext cx="499110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0F172A"/>
                </a:solidFill>
                <a:latin typeface="DM Sans"/>
                <a:ea typeface="DM Sans"/>
                <a:cs typeface="DM Sans"/>
                <a:sym typeface="DM Sans"/>
              </a:rPr>
              <a:t>Setting:</a:t>
            </a:r>
            <a:r>
              <a:rPr lang="en-US" sz="1500" b="0" i="0" u="none" strike="noStrike" cap="none" dirty="0">
                <a:solidFill>
                  <a:srgbClr val="334155"/>
                </a:solidFill>
                <a:latin typeface="DM Sans"/>
                <a:ea typeface="DM Sans"/>
                <a:cs typeface="DM Sans"/>
                <a:sym typeface="DM Sans"/>
              </a:rPr>
              <a:t> IIT Delhi</a:t>
            </a:r>
            <a:endParaRPr dirty="0"/>
          </a:p>
        </p:txBody>
      </p:sp>
      <p:sp>
        <p:nvSpPr>
          <p:cNvPr id="217" name="Google Shape;217;p23"/>
          <p:cNvSpPr txBox="1"/>
          <p:nvPr/>
        </p:nvSpPr>
        <p:spPr>
          <a:xfrm>
            <a:off x="819150" y="3576637"/>
            <a:ext cx="49911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DM Sans"/>
                <a:ea typeface="DM Sans"/>
                <a:cs typeface="DM Sans"/>
                <a:sym typeface="DM Sans"/>
              </a:rPr>
              <a:t>Premise:</a:t>
            </a:r>
            <a:r>
              <a:rPr lang="en-US" sz="1500" b="0" i="0" u="none" strike="noStrike" cap="none">
                <a:solidFill>
                  <a:srgbClr val="334155"/>
                </a:solidFill>
                <a:latin typeface="DM Sans"/>
                <a:ea typeface="DM Sans"/>
                <a:cs typeface="DM Sans"/>
                <a:sym typeface="DM Sans"/>
              </a:rPr>
              <a:t> The story follows Arindam Chatterjee, a student who feels out of place in the hyper-competitive environment of IIT.</a:t>
            </a:r>
            <a:endParaRPr/>
          </a:p>
        </p:txBody>
      </p:sp>
      <p:sp>
        <p:nvSpPr>
          <p:cNvPr id="218" name="Google Shape;218;p23"/>
          <p:cNvSpPr txBox="1"/>
          <p:nvPr/>
        </p:nvSpPr>
        <p:spPr>
          <a:xfrm>
            <a:off x="819150" y="4662487"/>
            <a:ext cx="49911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0F172A"/>
                </a:solidFill>
                <a:latin typeface="DM Sans"/>
                <a:ea typeface="DM Sans"/>
                <a:cs typeface="DM Sans"/>
                <a:sym typeface="DM Sans"/>
              </a:rPr>
              <a:t>Significance:</a:t>
            </a:r>
            <a:r>
              <a:rPr lang="en-US" sz="1500" b="0" i="0" u="none" strike="noStrike" cap="none" dirty="0">
                <a:solidFill>
                  <a:srgbClr val="334155"/>
                </a:solidFill>
                <a:latin typeface="DM Sans"/>
                <a:ea typeface="DM Sans"/>
                <a:cs typeface="DM Sans"/>
                <a:sym typeface="DM Sans"/>
              </a:rPr>
              <a:t> Unlike </a:t>
            </a:r>
            <a:r>
              <a:rPr lang="en-US" sz="1500" dirty="0">
                <a:solidFill>
                  <a:srgbClr val="334155"/>
                </a:solidFill>
                <a:latin typeface="DM Sans"/>
                <a:ea typeface="DM Sans"/>
                <a:cs typeface="DM Sans"/>
                <a:sym typeface="DM Sans"/>
              </a:rPr>
              <a:t>Bhagat’s ‘Bollywood-</a:t>
            </a:r>
            <a:r>
              <a:rPr lang="en-US" sz="1500" dirty="0" err="1">
                <a:solidFill>
                  <a:srgbClr val="334155"/>
                </a:solidFill>
                <a:latin typeface="DM Sans"/>
                <a:ea typeface="DM Sans"/>
                <a:cs typeface="DM Sans"/>
                <a:sym typeface="DM Sans"/>
              </a:rPr>
              <a:t>ised</a:t>
            </a:r>
            <a:r>
              <a:rPr lang="en-US" sz="1500" dirty="0">
                <a:solidFill>
                  <a:srgbClr val="334155"/>
                </a:solidFill>
                <a:latin typeface="DM Sans"/>
                <a:ea typeface="DM Sans"/>
                <a:cs typeface="DM Sans"/>
                <a:sym typeface="DM Sans"/>
              </a:rPr>
              <a:t>’ narrative,</a:t>
            </a:r>
            <a:r>
              <a:rPr lang="en-US" sz="1500" b="0" i="0" u="none" strike="noStrike" cap="none" dirty="0">
                <a:solidFill>
                  <a:srgbClr val="334155"/>
                </a:solidFill>
                <a:latin typeface="DM Sans"/>
                <a:ea typeface="DM Sans"/>
                <a:cs typeface="DM Sans"/>
                <a:sym typeface="DM Sans"/>
              </a:rPr>
              <a:t> Bagchi's work is noted for its literary quality, introspective tone, and nuanced character study.</a:t>
            </a:r>
            <a:endParaRPr dirty="0"/>
          </a:p>
        </p:txBody>
      </p:sp>
      <p:pic>
        <p:nvPicPr>
          <p:cNvPr id="219" name="Google Shape;219;p23" descr="image.png"/>
          <p:cNvPicPr preferRelativeResize="0"/>
          <p:nvPr/>
        </p:nvPicPr>
        <p:blipFill rotWithShape="1">
          <a:blip r:embed="rId3">
            <a:alphaModFix/>
          </a:blip>
          <a:srcRect/>
          <a:stretch/>
        </p:blipFill>
        <p:spPr>
          <a:xfrm>
            <a:off x="7830740" y="2147887"/>
            <a:ext cx="2331243" cy="3600301"/>
          </a:xfrm>
          <a:prstGeom prst="rect">
            <a:avLst/>
          </a:prstGeom>
          <a:noFill/>
          <a:ln>
            <a:noFill/>
          </a:ln>
        </p:spPr>
      </p:pic>
      <p:sp>
        <p:nvSpPr>
          <p:cNvPr id="220" name="Google Shape;220;p23"/>
          <p:cNvSpPr txBox="1"/>
          <p:nvPr/>
        </p:nvSpPr>
        <p:spPr>
          <a:xfrm>
            <a:off x="581025" y="212883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221" name="Google Shape;221;p23"/>
          <p:cNvSpPr txBox="1"/>
          <p:nvPr/>
        </p:nvSpPr>
        <p:spPr>
          <a:xfrm>
            <a:off x="581025" y="260508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1E3A8A"/>
                </a:solidFill>
                <a:latin typeface="DM Sans"/>
                <a:ea typeface="DM Sans"/>
                <a:cs typeface="DM Sans"/>
                <a:sym typeface="DM Sans"/>
              </a:rPr>
              <a:t>•</a:t>
            </a:r>
            <a:endParaRPr dirty="0"/>
          </a:p>
        </p:txBody>
      </p:sp>
      <p:sp>
        <p:nvSpPr>
          <p:cNvPr id="222" name="Google Shape;222;p23"/>
          <p:cNvSpPr txBox="1"/>
          <p:nvPr/>
        </p:nvSpPr>
        <p:spPr>
          <a:xfrm>
            <a:off x="581025" y="308133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223" name="Google Shape;223;p23"/>
          <p:cNvSpPr txBox="1"/>
          <p:nvPr/>
        </p:nvSpPr>
        <p:spPr>
          <a:xfrm>
            <a:off x="581025" y="355758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224" name="Google Shape;224;p23"/>
          <p:cNvSpPr txBox="1"/>
          <p:nvPr/>
        </p:nvSpPr>
        <p:spPr>
          <a:xfrm>
            <a:off x="581025" y="4643437"/>
            <a:ext cx="85725"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28"/>
        <p:cNvGrpSpPr/>
        <p:nvPr/>
      </p:nvGrpSpPr>
      <p:grpSpPr>
        <a:xfrm>
          <a:off x="0" y="0"/>
          <a:ext cx="0" cy="0"/>
          <a:chOff x="0" y="0"/>
          <a:chExt cx="0" cy="0"/>
        </a:xfrm>
      </p:grpSpPr>
      <p:sp>
        <p:nvSpPr>
          <p:cNvPr id="229" name="Google Shape;229;p24"/>
          <p:cNvSpPr txBox="1"/>
          <p:nvPr/>
        </p:nvSpPr>
        <p:spPr>
          <a:xfrm>
            <a:off x="581025" y="581025"/>
            <a:ext cx="11581447"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1E3A8A"/>
                </a:solidFill>
                <a:latin typeface="Merriweather"/>
                <a:ea typeface="Merriweather"/>
                <a:cs typeface="Merriweather"/>
                <a:sym typeface="Merriweather"/>
              </a:rPr>
              <a:t>The "Average" Hero</a:t>
            </a:r>
            <a:endParaRPr dirty="0"/>
          </a:p>
        </p:txBody>
      </p:sp>
      <p:sp>
        <p:nvSpPr>
          <p:cNvPr id="230" name="Google Shape;230;p24"/>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4"/>
          <p:cNvSpPr txBox="1"/>
          <p:nvPr/>
        </p:nvSpPr>
        <p:spPr>
          <a:xfrm>
            <a:off x="1333500" y="2976860"/>
            <a:ext cx="95250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DM Sans"/>
                <a:ea typeface="DM Sans"/>
                <a:cs typeface="DM Sans"/>
                <a:sym typeface="DM Sans"/>
              </a:rPr>
              <a:t>Arindam represents the "silent majority" in elite institutions—those who are intelligent but not geniuses, who struggle to find their identity beyond their Grade Point Average.</a:t>
            </a:r>
            <a:endParaRPr dirty="0"/>
          </a:p>
        </p:txBody>
      </p:sp>
      <p:sp>
        <p:nvSpPr>
          <p:cNvPr id="232" name="Google Shape;232;p24"/>
          <p:cNvSpPr txBox="1"/>
          <p:nvPr/>
        </p:nvSpPr>
        <p:spPr>
          <a:xfrm>
            <a:off x="1333500" y="3885307"/>
            <a:ext cx="9525000" cy="16250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lang="en-US" sz="1650" b="0" i="0" u="none" strike="noStrike" cap="none" dirty="0">
              <a:solidFill>
                <a:srgbClr val="334155"/>
              </a:solidFill>
              <a:latin typeface="DM Sans"/>
              <a:ea typeface="DM Sans"/>
              <a:cs typeface="DM Sans"/>
              <a:sym typeface="DM Sans"/>
            </a:endParaRPr>
          </a:p>
          <a:p>
            <a:pPr marL="0" marR="0" lvl="0" indent="0" algn="l" rtl="0">
              <a:lnSpc>
                <a:spcPct val="160000"/>
              </a:lnSpc>
              <a:spcBef>
                <a:spcPts val="0"/>
              </a:spcBef>
              <a:spcAft>
                <a:spcPts val="0"/>
              </a:spcAft>
              <a:buNone/>
            </a:pPr>
            <a:r>
              <a:rPr lang="en-US" sz="1650" b="0" i="0" u="none" strike="noStrike" cap="none" dirty="0">
                <a:solidFill>
                  <a:srgbClr val="334155"/>
                </a:solidFill>
                <a:latin typeface="DM Sans"/>
                <a:ea typeface="DM Sans"/>
                <a:cs typeface="DM Sans"/>
                <a:sym typeface="DM Sans"/>
              </a:rPr>
              <a:t>While his peers chase high-paying corporate jobs and US grad school admissions, Arindam finds solace in playing the bass guitar for his rock band. The novel chronicles his oscillation between the demands of the "system" and his artistic inclinations.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6"/>
        <p:cNvGrpSpPr/>
        <p:nvPr/>
      </p:nvGrpSpPr>
      <p:grpSpPr>
        <a:xfrm>
          <a:off x="0" y="0"/>
          <a:ext cx="0" cy="0"/>
          <a:chOff x="0" y="0"/>
          <a:chExt cx="0" cy="0"/>
        </a:xfrm>
      </p:grpSpPr>
      <p:pic>
        <p:nvPicPr>
          <p:cNvPr id="237" name="Google Shape;237;p25" descr="image.png"/>
          <p:cNvPicPr preferRelativeResize="0"/>
          <p:nvPr/>
        </p:nvPicPr>
        <p:blipFill rotWithShape="1">
          <a:blip r:embed="rId3">
            <a:alphaModFix/>
          </a:blip>
          <a:srcRect/>
          <a:stretch/>
        </p:blipFill>
        <p:spPr>
          <a:xfrm>
            <a:off x="581025" y="1914525"/>
            <a:ext cx="11029950" cy="1045815"/>
          </a:xfrm>
          <a:prstGeom prst="rect">
            <a:avLst/>
          </a:prstGeom>
          <a:noFill/>
          <a:ln>
            <a:noFill/>
          </a:ln>
        </p:spPr>
      </p:pic>
      <p:pic>
        <p:nvPicPr>
          <p:cNvPr id="238" name="Google Shape;238;p25" descr="image.png"/>
          <p:cNvPicPr preferRelativeResize="0"/>
          <p:nvPr/>
        </p:nvPicPr>
        <p:blipFill rotWithShape="1">
          <a:blip r:embed="rId4">
            <a:alphaModFix/>
          </a:blip>
          <a:srcRect/>
          <a:stretch/>
        </p:blipFill>
        <p:spPr>
          <a:xfrm>
            <a:off x="581025" y="3150840"/>
            <a:ext cx="11029950" cy="1320105"/>
          </a:xfrm>
          <a:prstGeom prst="rect">
            <a:avLst/>
          </a:prstGeom>
          <a:noFill/>
          <a:ln>
            <a:noFill/>
          </a:ln>
        </p:spPr>
      </p:pic>
      <p:pic>
        <p:nvPicPr>
          <p:cNvPr id="239" name="Google Shape;239;p25" descr="image.png"/>
          <p:cNvPicPr preferRelativeResize="0"/>
          <p:nvPr/>
        </p:nvPicPr>
        <p:blipFill rotWithShape="1">
          <a:blip r:embed="rId5">
            <a:alphaModFix/>
          </a:blip>
          <a:srcRect/>
          <a:stretch/>
        </p:blipFill>
        <p:spPr>
          <a:xfrm>
            <a:off x="581025" y="4661445"/>
            <a:ext cx="11029950" cy="1320105"/>
          </a:xfrm>
          <a:prstGeom prst="rect">
            <a:avLst/>
          </a:prstGeom>
          <a:noFill/>
          <a:ln>
            <a:noFill/>
          </a:ln>
        </p:spPr>
      </p:pic>
      <p:sp>
        <p:nvSpPr>
          <p:cNvPr id="240" name="Google Shape;240;p25"/>
          <p:cNvSpPr txBox="1"/>
          <p:nvPr/>
        </p:nvSpPr>
        <p:spPr>
          <a:xfrm>
            <a:off x="581025" y="581025"/>
            <a:ext cx="11581447"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E3A8A"/>
                </a:solidFill>
                <a:latin typeface="Merriweather"/>
                <a:ea typeface="Merriweather"/>
                <a:cs typeface="Merriweather"/>
                <a:sym typeface="Merriweather"/>
              </a:rPr>
              <a:t>Key Themes in </a:t>
            </a:r>
            <a:r>
              <a:rPr lang="en-US" sz="3150" b="1" i="1" u="none" strike="noStrike" cap="none">
                <a:solidFill>
                  <a:srgbClr val="1E3A8A"/>
                </a:solidFill>
                <a:latin typeface="Merriweather"/>
                <a:ea typeface="Merriweather"/>
                <a:cs typeface="Merriweather"/>
                <a:sym typeface="Merriweather"/>
              </a:rPr>
              <a:t>Above Average</a:t>
            </a:r>
            <a:endParaRPr/>
          </a:p>
        </p:txBody>
      </p:sp>
      <p:sp>
        <p:nvSpPr>
          <p:cNvPr id="241" name="Google Shape;241;p25"/>
          <p:cNvSpPr/>
          <p:nvPr/>
        </p:nvSpPr>
        <p:spPr>
          <a:xfrm>
            <a:off x="581025" y="1219200"/>
            <a:ext cx="1102995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2" name="Google Shape;242;p25" descr="image.png"/>
          <p:cNvPicPr preferRelativeResize="0"/>
          <p:nvPr/>
        </p:nvPicPr>
        <p:blipFill rotWithShape="1">
          <a:blip r:embed="rId6">
            <a:alphaModFix/>
          </a:blip>
          <a:srcRect/>
          <a:stretch/>
        </p:blipFill>
        <p:spPr>
          <a:xfrm>
            <a:off x="914400" y="2152650"/>
            <a:ext cx="476250" cy="476250"/>
          </a:xfrm>
          <a:prstGeom prst="rect">
            <a:avLst/>
          </a:prstGeom>
          <a:noFill/>
          <a:ln>
            <a:noFill/>
          </a:ln>
        </p:spPr>
      </p:pic>
      <p:pic>
        <p:nvPicPr>
          <p:cNvPr id="243" name="Google Shape;243;p25" descr="image.png"/>
          <p:cNvPicPr preferRelativeResize="0"/>
          <p:nvPr/>
        </p:nvPicPr>
        <p:blipFill rotWithShape="1">
          <a:blip r:embed="rId7">
            <a:alphaModFix/>
          </a:blip>
          <a:srcRect/>
          <a:stretch/>
        </p:blipFill>
        <p:spPr>
          <a:xfrm>
            <a:off x="914400" y="3388965"/>
            <a:ext cx="476250" cy="476250"/>
          </a:xfrm>
          <a:prstGeom prst="rect">
            <a:avLst/>
          </a:prstGeom>
          <a:noFill/>
          <a:ln>
            <a:noFill/>
          </a:ln>
        </p:spPr>
      </p:pic>
      <p:pic>
        <p:nvPicPr>
          <p:cNvPr id="244" name="Google Shape;244;p25" descr="image.png"/>
          <p:cNvPicPr preferRelativeResize="0"/>
          <p:nvPr/>
        </p:nvPicPr>
        <p:blipFill rotWithShape="1">
          <a:blip r:embed="rId7">
            <a:alphaModFix/>
          </a:blip>
          <a:srcRect/>
          <a:stretch/>
        </p:blipFill>
        <p:spPr>
          <a:xfrm>
            <a:off x="914400" y="4899570"/>
            <a:ext cx="476250" cy="476250"/>
          </a:xfrm>
          <a:prstGeom prst="rect">
            <a:avLst/>
          </a:prstGeom>
          <a:noFill/>
          <a:ln>
            <a:noFill/>
          </a:ln>
        </p:spPr>
      </p:pic>
      <p:pic>
        <p:nvPicPr>
          <p:cNvPr id="245" name="Google Shape;245;p25" descr="image.png"/>
          <p:cNvPicPr preferRelativeResize="0"/>
          <p:nvPr/>
        </p:nvPicPr>
        <p:blipFill rotWithShape="1">
          <a:blip r:embed="rId8">
            <a:alphaModFix/>
          </a:blip>
          <a:srcRect/>
          <a:stretch/>
        </p:blipFill>
        <p:spPr>
          <a:xfrm>
            <a:off x="1033462" y="2295525"/>
            <a:ext cx="238125" cy="190500"/>
          </a:xfrm>
          <a:prstGeom prst="rect">
            <a:avLst/>
          </a:prstGeom>
          <a:noFill/>
          <a:ln>
            <a:noFill/>
          </a:ln>
        </p:spPr>
      </p:pic>
      <p:sp>
        <p:nvSpPr>
          <p:cNvPr id="246" name="Google Shape;246;p25"/>
          <p:cNvSpPr txBox="1"/>
          <p:nvPr/>
        </p:nvSpPr>
        <p:spPr>
          <a:xfrm>
            <a:off x="1628775" y="2105025"/>
            <a:ext cx="9641205"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Mediocrity vs. Excellence</a:t>
            </a:r>
            <a:endParaRPr/>
          </a:p>
        </p:txBody>
      </p:sp>
      <p:sp>
        <p:nvSpPr>
          <p:cNvPr id="247" name="Google Shape;247;p25"/>
          <p:cNvSpPr txBox="1"/>
          <p:nvPr/>
        </p:nvSpPr>
        <p:spPr>
          <a:xfrm>
            <a:off x="1628775" y="2495550"/>
            <a:ext cx="91821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DM Sans"/>
                <a:ea typeface="DM Sans"/>
                <a:cs typeface="DM Sans"/>
                <a:sym typeface="DM Sans"/>
              </a:rPr>
              <a:t>The novel questions the definition of "success." Is being "above average" enough in a world that demands perfection?</a:t>
            </a:r>
            <a:endParaRPr/>
          </a:p>
        </p:txBody>
      </p:sp>
      <p:pic>
        <p:nvPicPr>
          <p:cNvPr id="248" name="Google Shape;248;p25" descr="image.png"/>
          <p:cNvPicPr preferRelativeResize="0"/>
          <p:nvPr/>
        </p:nvPicPr>
        <p:blipFill rotWithShape="1">
          <a:blip r:embed="rId9">
            <a:alphaModFix/>
          </a:blip>
          <a:srcRect/>
          <a:stretch/>
        </p:blipFill>
        <p:spPr>
          <a:xfrm>
            <a:off x="1033462" y="3531840"/>
            <a:ext cx="238125" cy="190500"/>
          </a:xfrm>
          <a:prstGeom prst="rect">
            <a:avLst/>
          </a:prstGeom>
          <a:noFill/>
          <a:ln>
            <a:noFill/>
          </a:ln>
        </p:spPr>
      </p:pic>
      <p:sp>
        <p:nvSpPr>
          <p:cNvPr id="249" name="Google Shape;249;p25"/>
          <p:cNvSpPr txBox="1"/>
          <p:nvPr/>
        </p:nvSpPr>
        <p:spPr>
          <a:xfrm>
            <a:off x="1628775" y="3341340"/>
            <a:ext cx="10181272"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Male Friendship</a:t>
            </a:r>
            <a:endParaRPr/>
          </a:p>
        </p:txBody>
      </p:sp>
      <p:sp>
        <p:nvSpPr>
          <p:cNvPr id="250" name="Google Shape;250;p25"/>
          <p:cNvSpPr txBox="1"/>
          <p:nvPr/>
        </p:nvSpPr>
        <p:spPr>
          <a:xfrm>
            <a:off x="1628775" y="3731865"/>
            <a:ext cx="9696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DM Sans"/>
                <a:ea typeface="DM Sans"/>
                <a:cs typeface="DM Sans"/>
                <a:sym typeface="DM Sans"/>
              </a:rPr>
              <a:t>It sensitively portrays the bonds formed in hostels—relationships defined by shared anxieties, banter, and unspoken support.</a:t>
            </a:r>
            <a:endParaRPr/>
          </a:p>
        </p:txBody>
      </p:sp>
      <p:pic>
        <p:nvPicPr>
          <p:cNvPr id="251" name="Google Shape;251;p25" descr="image.png"/>
          <p:cNvPicPr preferRelativeResize="0"/>
          <p:nvPr/>
        </p:nvPicPr>
        <p:blipFill rotWithShape="1">
          <a:blip r:embed="rId10">
            <a:alphaModFix/>
          </a:blip>
          <a:srcRect/>
          <a:stretch/>
        </p:blipFill>
        <p:spPr>
          <a:xfrm>
            <a:off x="1042987" y="5042445"/>
            <a:ext cx="219075" cy="190500"/>
          </a:xfrm>
          <a:prstGeom prst="rect">
            <a:avLst/>
          </a:prstGeom>
          <a:noFill/>
          <a:ln>
            <a:noFill/>
          </a:ln>
        </p:spPr>
      </p:pic>
      <p:sp>
        <p:nvSpPr>
          <p:cNvPr id="252" name="Google Shape;252;p25"/>
          <p:cNvSpPr txBox="1"/>
          <p:nvPr/>
        </p:nvSpPr>
        <p:spPr>
          <a:xfrm>
            <a:off x="1628775" y="4851945"/>
            <a:ext cx="1018127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1E3A8A"/>
                </a:solidFill>
                <a:latin typeface="Merriweather"/>
                <a:ea typeface="Merriweather"/>
                <a:cs typeface="Merriweather"/>
                <a:sym typeface="Merriweather"/>
              </a:rPr>
              <a:t>Professional Aspiration vs. Alternative Paths</a:t>
            </a:r>
            <a:endParaRPr dirty="0"/>
          </a:p>
        </p:txBody>
      </p:sp>
      <p:sp>
        <p:nvSpPr>
          <p:cNvPr id="253" name="Google Shape;253;p25"/>
          <p:cNvSpPr txBox="1"/>
          <p:nvPr/>
        </p:nvSpPr>
        <p:spPr>
          <a:xfrm>
            <a:off x="1628775" y="5242470"/>
            <a:ext cx="9696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DM Sans"/>
                <a:ea typeface="DM Sans"/>
                <a:cs typeface="DM Sans"/>
                <a:sym typeface="DM Sans"/>
              </a:rPr>
              <a:t>Through the subplot of the band, Bagchi explores the possibility of pursuing passion over pragmatism in middle-class India.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810</Words>
  <Application>Microsoft Macintosh PowerPoint</Application>
  <PresentationFormat>Widescreen</PresentationFormat>
  <Paragraphs>81</Paragraphs>
  <Slides>13</Slides>
  <Notes>13</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Merriweather Light</vt:lpstr>
      <vt:lpstr>Merriweather</vt:lpstr>
      <vt:lpstr>Arial</vt:lpstr>
      <vt:lpstr>DM Sans</vt:lpstr>
      <vt:lpstr>Merriweather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Sonal Jha</cp:lastModifiedBy>
  <cp:revision>4</cp:revision>
  <dcterms:modified xsi:type="dcterms:W3CDTF">2026-02-16T03:15:24Z</dcterms:modified>
</cp:coreProperties>
</file>